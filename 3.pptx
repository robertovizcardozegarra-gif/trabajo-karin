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2506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19" Type="http://schemas.openxmlformats.org/officeDocument/2006/relationships/image" Target="../media/image1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79705" y="1490980"/>
            <a:ext cx="626729" cy="1168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22547" y="1325880"/>
            <a:ext cx="773337" cy="17678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77968" y="1503680"/>
            <a:ext cx="1094231" cy="17271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905609" y="1499616"/>
            <a:ext cx="3018434" cy="17678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213433" y="1499616"/>
            <a:ext cx="658794" cy="10566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00200" y="1673351"/>
            <a:ext cx="4572000" cy="3081528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600200" y="1326134"/>
            <a:ext cx="4572000" cy="513333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803903" y="1326642"/>
            <a:ext cx="2368296" cy="28575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956047" y="1367028"/>
            <a:ext cx="1216151" cy="259079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911095" y="1557528"/>
            <a:ext cx="1859279" cy="172211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880616" y="1729740"/>
            <a:ext cx="28955" cy="13715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774948" y="1325880"/>
            <a:ext cx="2371343" cy="373379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600200" y="1577340"/>
            <a:ext cx="2321051" cy="259079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209032" y="1353312"/>
            <a:ext cx="963167" cy="27279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098794" y="9369754"/>
            <a:ext cx="17399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26" Type="http://schemas.openxmlformats.org/officeDocument/2006/relationships/image" Target="../media/image38.png"/><Relationship Id="rId3" Type="http://schemas.openxmlformats.org/officeDocument/2006/relationships/image" Target="../media/image16.png"/><Relationship Id="rId21" Type="http://schemas.openxmlformats.org/officeDocument/2006/relationships/image" Target="../media/image33.png"/><Relationship Id="rId7" Type="http://schemas.openxmlformats.org/officeDocument/2006/relationships/image" Target="../media/image20.png"/><Relationship Id="rId12" Type="http://schemas.openxmlformats.org/officeDocument/2006/relationships/image" Target="../media/image11.png"/><Relationship Id="rId17" Type="http://schemas.openxmlformats.org/officeDocument/2006/relationships/image" Target="../media/image29.png"/><Relationship Id="rId25" Type="http://schemas.openxmlformats.org/officeDocument/2006/relationships/image" Target="../media/image37.png"/><Relationship Id="rId2" Type="http://schemas.openxmlformats.org/officeDocument/2006/relationships/image" Target="../media/image15.png"/><Relationship Id="rId16" Type="http://schemas.openxmlformats.org/officeDocument/2006/relationships/image" Target="../media/image28.jpg"/><Relationship Id="rId20" Type="http://schemas.openxmlformats.org/officeDocument/2006/relationships/image" Target="../media/image32.png"/><Relationship Id="rId29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24" Type="http://schemas.openxmlformats.org/officeDocument/2006/relationships/image" Target="../media/image36.png"/><Relationship Id="rId5" Type="http://schemas.openxmlformats.org/officeDocument/2006/relationships/image" Target="../media/image18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28" Type="http://schemas.openxmlformats.org/officeDocument/2006/relationships/image" Target="../media/image40.png"/><Relationship Id="rId10" Type="http://schemas.openxmlformats.org/officeDocument/2006/relationships/image" Target="../media/image23.png"/><Relationship Id="rId19" Type="http://schemas.openxmlformats.org/officeDocument/2006/relationships/image" Target="../media/image31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Relationship Id="rId27" Type="http://schemas.openxmlformats.org/officeDocument/2006/relationships/image" Target="../media/image39.png"/><Relationship Id="rId30" Type="http://schemas.openxmlformats.org/officeDocument/2006/relationships/image" Target="../media/image4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6.jp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5.jpg"/><Relationship Id="rId2" Type="http://schemas.openxmlformats.org/officeDocument/2006/relationships/image" Target="../media/image43.jpg"/><Relationship Id="rId16" Type="http://schemas.openxmlformats.org/officeDocument/2006/relationships/image" Target="../media/image44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44.jpg"/><Relationship Id="rId16" Type="http://schemas.openxmlformats.org/officeDocument/2006/relationships/image" Target="../media/image4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48.jpg"/><Relationship Id="rId16" Type="http://schemas.openxmlformats.org/officeDocument/2006/relationships/image" Target="../media/image49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53.png"/><Relationship Id="rId2" Type="http://schemas.openxmlformats.org/officeDocument/2006/relationships/image" Target="../media/image29.png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51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9705" y="1490980"/>
            <a:ext cx="626729" cy="116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22547" y="1325880"/>
            <a:ext cx="773337" cy="1767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77968" y="1503680"/>
            <a:ext cx="1094231" cy="17271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600200" y="1325880"/>
            <a:ext cx="4572000" cy="3429000"/>
            <a:chOff x="1600200" y="1325880"/>
            <a:chExt cx="4572000" cy="3429000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05609" y="1499616"/>
              <a:ext cx="3018434" cy="17678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13433" y="1499616"/>
              <a:ext cx="658794" cy="10566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00200" y="1673351"/>
              <a:ext cx="4572000" cy="308152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00200" y="1326134"/>
              <a:ext cx="4572000" cy="51333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03903" y="1326642"/>
              <a:ext cx="2368296" cy="2857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56047" y="1367028"/>
              <a:ext cx="1216151" cy="2590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11095" y="1557528"/>
              <a:ext cx="1859279" cy="17221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80616" y="1729740"/>
              <a:ext cx="28955" cy="1371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74948" y="1325880"/>
              <a:ext cx="2371343" cy="37337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00200" y="1577340"/>
              <a:ext cx="2321051" cy="25907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09032" y="1353312"/>
              <a:ext cx="963167" cy="27279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69919" y="3217164"/>
              <a:ext cx="1053083" cy="75285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600200" y="1325880"/>
            <a:ext cx="4572000" cy="2975173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758825" marR="615315" indent="-3175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MODELO</a:t>
            </a:r>
            <a:r>
              <a:rPr sz="1800" b="1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800" b="1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CASOS</a:t>
            </a:r>
            <a:r>
              <a:rPr sz="1800" b="1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800" b="1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Verdana"/>
                <a:cs typeface="Verdana"/>
              </a:rPr>
              <a:t>USO </a:t>
            </a: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DEL</a:t>
            </a:r>
            <a:r>
              <a:rPr sz="1800" b="1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NEGOCIO</a:t>
            </a:r>
            <a:r>
              <a:rPr sz="1800" b="1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Verdana"/>
                <a:cs typeface="Verdana"/>
              </a:rPr>
              <a:t>(MCUN)</a:t>
            </a: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1800" dirty="0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600200" y="5301996"/>
            <a:ext cx="4572000" cy="3429000"/>
            <a:chOff x="1600200" y="5301996"/>
            <a:chExt cx="4572000" cy="3429000"/>
          </a:xfrm>
        </p:grpSpPr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581351" y="5467096"/>
              <a:ext cx="622705" cy="1015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622548" y="5301996"/>
              <a:ext cx="767485" cy="17525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085282" y="5479796"/>
              <a:ext cx="1086917" cy="17119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906706" y="5474207"/>
              <a:ext cx="3017337" cy="17678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12701" y="5474207"/>
              <a:ext cx="659526" cy="10718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00200" y="5647944"/>
              <a:ext cx="4572000" cy="308305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00200" y="5302249"/>
              <a:ext cx="4572000" cy="51333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449823" y="5333999"/>
              <a:ext cx="722376" cy="21945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291328" y="5343144"/>
              <a:ext cx="880871" cy="25450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745992" y="5302757"/>
              <a:ext cx="2426208" cy="29946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880616" y="5716523"/>
              <a:ext cx="9143" cy="304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600200" y="5301996"/>
              <a:ext cx="4546092" cy="51053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25751" y="5329428"/>
              <a:ext cx="4346448" cy="402335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1600200" y="5303520"/>
            <a:ext cx="4572000" cy="3427729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1400">
              <a:latin typeface="Times New Roman"/>
              <a:cs typeface="Times New Roman"/>
            </a:endParaRPr>
          </a:p>
          <a:p>
            <a:pPr marL="1112520" marR="353060">
              <a:lnSpc>
                <a:spcPct val="100000"/>
              </a:lnSpc>
            </a:pPr>
            <a:r>
              <a:rPr sz="1400" dirty="0">
                <a:latin typeface="Arial MT"/>
                <a:cs typeface="Arial MT"/>
              </a:rPr>
              <a:t>El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modelo de casos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uso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del </a:t>
            </a:r>
            <a:r>
              <a:rPr sz="1400" spc="-10" dirty="0">
                <a:latin typeface="Arial MT"/>
                <a:cs typeface="Arial MT"/>
              </a:rPr>
              <a:t>negocio </a:t>
            </a:r>
            <a:r>
              <a:rPr sz="1400" dirty="0">
                <a:latin typeface="Arial MT"/>
                <a:cs typeface="Arial MT"/>
              </a:rPr>
              <a:t>describe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los procesos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negocio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de </a:t>
            </a:r>
            <a:r>
              <a:rPr sz="1400" dirty="0">
                <a:latin typeface="Arial MT"/>
                <a:cs typeface="Arial MT"/>
              </a:rPr>
              <a:t>una empresa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términos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 casos</a:t>
            </a:r>
            <a:r>
              <a:rPr sz="1400" spc="-25" dirty="0">
                <a:latin typeface="Arial MT"/>
                <a:cs typeface="Arial MT"/>
              </a:rPr>
              <a:t> de </a:t>
            </a:r>
            <a:r>
              <a:rPr sz="1400" dirty="0">
                <a:latin typeface="Arial MT"/>
                <a:cs typeface="Arial MT"/>
              </a:rPr>
              <a:t>uso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del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negocio y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actores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del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negocio </a:t>
            </a:r>
            <a:r>
              <a:rPr sz="1400" dirty="0">
                <a:latin typeface="Arial MT"/>
                <a:cs typeface="Arial MT"/>
              </a:rPr>
              <a:t>que se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corresponden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los </a:t>
            </a:r>
            <a:r>
              <a:rPr sz="1400" spc="-10" dirty="0">
                <a:latin typeface="Arial MT"/>
                <a:cs typeface="Arial MT"/>
              </a:rPr>
              <a:t>procesos </a:t>
            </a:r>
            <a:r>
              <a:rPr sz="1400" dirty="0">
                <a:latin typeface="Arial MT"/>
                <a:cs typeface="Arial MT"/>
              </a:rPr>
              <a:t>del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negocio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los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clientes, respectivamente.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10"/>
              </a:spcBef>
            </a:pPr>
            <a:endParaRPr sz="1400">
              <a:latin typeface="Arial MT"/>
              <a:cs typeface="Arial MT"/>
            </a:endParaRPr>
          </a:p>
          <a:p>
            <a:pPr marL="2540" algn="ctr">
              <a:lnSpc>
                <a:spcPct val="100000"/>
              </a:lnSpc>
            </a:pPr>
            <a:r>
              <a:rPr sz="600" spc="-50" dirty="0">
                <a:solidFill>
                  <a:srgbClr val="035B75"/>
                </a:solidFill>
                <a:latin typeface="Arial MT"/>
                <a:cs typeface="Arial MT"/>
              </a:rPr>
              <a:t>2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688592" y="5791200"/>
            <a:ext cx="3205480" cy="289560"/>
          </a:xfrm>
          <a:prstGeom prst="rect">
            <a:avLst/>
          </a:prstGeom>
          <a:solidFill>
            <a:srgbClr val="009CD8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Modelo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casos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uso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del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negocio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35" name="object 35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615440" y="6726935"/>
            <a:ext cx="1053083" cy="751332"/>
          </a:xfrm>
          <a:prstGeom prst="rect">
            <a:avLst/>
          </a:prstGeom>
        </p:spPr>
      </p:pic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23388" y="3464051"/>
            <a:ext cx="44450" cy="471170"/>
          </a:xfrm>
          <a:custGeom>
            <a:avLst/>
            <a:gdLst/>
            <a:ahLst/>
            <a:cxnLst/>
            <a:rect l="l" t="t" r="r" b="b"/>
            <a:pathLst>
              <a:path w="44450" h="471170">
                <a:moveTo>
                  <a:pt x="44196" y="441972"/>
                </a:moveTo>
                <a:lnTo>
                  <a:pt x="42672" y="437400"/>
                </a:lnTo>
                <a:lnTo>
                  <a:pt x="33528" y="428256"/>
                </a:lnTo>
                <a:lnTo>
                  <a:pt x="28956" y="426732"/>
                </a:lnTo>
                <a:lnTo>
                  <a:pt x="16764" y="426732"/>
                </a:lnTo>
                <a:lnTo>
                  <a:pt x="12192" y="428256"/>
                </a:lnTo>
                <a:lnTo>
                  <a:pt x="3048" y="437400"/>
                </a:lnTo>
                <a:lnTo>
                  <a:pt x="0" y="441972"/>
                </a:lnTo>
                <a:lnTo>
                  <a:pt x="0" y="454164"/>
                </a:lnTo>
                <a:lnTo>
                  <a:pt x="3048" y="460260"/>
                </a:lnTo>
                <a:lnTo>
                  <a:pt x="7620" y="464832"/>
                </a:lnTo>
                <a:lnTo>
                  <a:pt x="16764" y="470928"/>
                </a:lnTo>
                <a:lnTo>
                  <a:pt x="28956" y="470928"/>
                </a:lnTo>
                <a:lnTo>
                  <a:pt x="38100" y="464832"/>
                </a:lnTo>
                <a:lnTo>
                  <a:pt x="42672" y="460260"/>
                </a:lnTo>
                <a:lnTo>
                  <a:pt x="44196" y="454164"/>
                </a:lnTo>
                <a:lnTo>
                  <a:pt x="44196" y="441972"/>
                </a:lnTo>
                <a:close/>
              </a:path>
              <a:path w="44450" h="471170">
                <a:moveTo>
                  <a:pt x="44196" y="228600"/>
                </a:moveTo>
                <a:lnTo>
                  <a:pt x="42672" y="224028"/>
                </a:lnTo>
                <a:lnTo>
                  <a:pt x="33528" y="214884"/>
                </a:lnTo>
                <a:lnTo>
                  <a:pt x="28956" y="213360"/>
                </a:lnTo>
                <a:lnTo>
                  <a:pt x="16764" y="213360"/>
                </a:lnTo>
                <a:lnTo>
                  <a:pt x="12192" y="214884"/>
                </a:lnTo>
                <a:lnTo>
                  <a:pt x="3048" y="224028"/>
                </a:lnTo>
                <a:lnTo>
                  <a:pt x="0" y="228600"/>
                </a:lnTo>
                <a:lnTo>
                  <a:pt x="0" y="240792"/>
                </a:lnTo>
                <a:lnTo>
                  <a:pt x="3048" y="246888"/>
                </a:lnTo>
                <a:lnTo>
                  <a:pt x="7620" y="251460"/>
                </a:lnTo>
                <a:lnTo>
                  <a:pt x="16764" y="257556"/>
                </a:lnTo>
                <a:lnTo>
                  <a:pt x="28956" y="257556"/>
                </a:lnTo>
                <a:lnTo>
                  <a:pt x="38100" y="251460"/>
                </a:lnTo>
                <a:lnTo>
                  <a:pt x="42672" y="246888"/>
                </a:lnTo>
                <a:lnTo>
                  <a:pt x="44196" y="240792"/>
                </a:lnTo>
                <a:lnTo>
                  <a:pt x="44196" y="228600"/>
                </a:lnTo>
                <a:close/>
              </a:path>
              <a:path w="44450" h="471170">
                <a:moveTo>
                  <a:pt x="44196" y="15240"/>
                </a:moveTo>
                <a:lnTo>
                  <a:pt x="42672" y="10668"/>
                </a:lnTo>
                <a:lnTo>
                  <a:pt x="33528" y="1524"/>
                </a:lnTo>
                <a:lnTo>
                  <a:pt x="28956" y="0"/>
                </a:lnTo>
                <a:lnTo>
                  <a:pt x="16764" y="0"/>
                </a:lnTo>
                <a:lnTo>
                  <a:pt x="12192" y="1524"/>
                </a:lnTo>
                <a:lnTo>
                  <a:pt x="3048" y="10668"/>
                </a:lnTo>
                <a:lnTo>
                  <a:pt x="0" y="15240"/>
                </a:lnTo>
                <a:lnTo>
                  <a:pt x="0" y="27432"/>
                </a:lnTo>
                <a:lnTo>
                  <a:pt x="3048" y="32004"/>
                </a:lnTo>
                <a:lnTo>
                  <a:pt x="7620" y="36576"/>
                </a:lnTo>
                <a:lnTo>
                  <a:pt x="12192" y="41148"/>
                </a:lnTo>
                <a:lnTo>
                  <a:pt x="16764" y="44196"/>
                </a:lnTo>
                <a:lnTo>
                  <a:pt x="28956" y="44196"/>
                </a:lnTo>
                <a:lnTo>
                  <a:pt x="33528" y="41148"/>
                </a:lnTo>
                <a:lnTo>
                  <a:pt x="42672" y="32004"/>
                </a:lnTo>
                <a:lnTo>
                  <a:pt x="44196" y="27432"/>
                </a:lnTo>
                <a:lnTo>
                  <a:pt x="44196" y="152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0200" y="1325880"/>
            <a:ext cx="4572000" cy="3429000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1400">
              <a:latin typeface="Times New Roman"/>
              <a:cs typeface="Times New Roman"/>
            </a:endParaRPr>
          </a:p>
          <a:p>
            <a:pPr marL="1112520" marR="364490">
              <a:lnSpc>
                <a:spcPct val="100000"/>
              </a:lnSpc>
            </a:pPr>
            <a:r>
              <a:rPr sz="1400" dirty="0">
                <a:latin typeface="Arial MT"/>
                <a:cs typeface="Arial MT"/>
              </a:rPr>
              <a:t>Dentro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del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Modelo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casos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 uso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del </a:t>
            </a:r>
            <a:r>
              <a:rPr sz="1400" dirty="0">
                <a:latin typeface="Arial MT"/>
                <a:cs typeface="Arial MT"/>
              </a:rPr>
              <a:t>negocio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representan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siguientes artefactos: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Arial MT"/>
              <a:cs typeface="Arial MT"/>
            </a:endParaRPr>
          </a:p>
          <a:p>
            <a:pPr marL="1340485" marR="1172845">
              <a:lnSpc>
                <a:spcPct val="100000"/>
              </a:lnSpc>
            </a:pPr>
            <a:r>
              <a:rPr sz="1400" dirty="0">
                <a:latin typeface="Arial MT"/>
                <a:cs typeface="Arial MT"/>
              </a:rPr>
              <a:t>Objetivos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del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negocio </a:t>
            </a:r>
            <a:r>
              <a:rPr sz="1400" dirty="0">
                <a:latin typeface="Arial MT"/>
                <a:cs typeface="Arial MT"/>
              </a:rPr>
              <a:t>Casos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uso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del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negocio </a:t>
            </a:r>
            <a:r>
              <a:rPr sz="1400" dirty="0">
                <a:latin typeface="Arial MT"/>
                <a:cs typeface="Arial MT"/>
              </a:rPr>
              <a:t>Actores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del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negocio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1400">
              <a:latin typeface="Arial MT"/>
              <a:cs typeface="Arial MT"/>
            </a:endParaRPr>
          </a:p>
          <a:p>
            <a:pPr marL="2540" algn="ctr">
              <a:lnSpc>
                <a:spcPct val="100000"/>
              </a:lnSpc>
            </a:pPr>
            <a:r>
              <a:rPr sz="600" spc="-50" dirty="0">
                <a:solidFill>
                  <a:srgbClr val="035B75"/>
                </a:solidFill>
                <a:latin typeface="Arial MT"/>
                <a:cs typeface="Arial MT"/>
              </a:rPr>
              <a:t>3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88592" y="1815083"/>
            <a:ext cx="3205480" cy="289560"/>
          </a:xfrm>
          <a:prstGeom prst="rect">
            <a:avLst/>
          </a:prstGeom>
          <a:solidFill>
            <a:srgbClr val="009CD8"/>
          </a:solidFill>
        </p:spPr>
        <p:txBody>
          <a:bodyPr vert="horz" wrap="square" lIns="0" tIns="11430" rIns="0" bIns="0" rtlCol="0">
            <a:spAutoFit/>
          </a:bodyPr>
          <a:lstStyle/>
          <a:p>
            <a:pPr marL="1270">
              <a:lnSpc>
                <a:spcPct val="100000"/>
              </a:lnSpc>
              <a:spcBef>
                <a:spcPts val="9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Modelo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casos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uso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del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negocio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5440" y="2752343"/>
            <a:ext cx="1053083" cy="75133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600200" y="5301996"/>
            <a:ext cx="4572000" cy="3429000"/>
            <a:chOff x="1600200" y="5301996"/>
            <a:chExt cx="4572000" cy="3429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1351" y="5467096"/>
              <a:ext cx="622705" cy="1015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22548" y="5301996"/>
              <a:ext cx="767485" cy="17525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5282" y="5479796"/>
              <a:ext cx="1086917" cy="17119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06706" y="5474207"/>
              <a:ext cx="3017337" cy="17678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12701" y="5474207"/>
              <a:ext cx="659526" cy="10718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00200" y="5647944"/>
              <a:ext cx="4572000" cy="308305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00200" y="5302249"/>
              <a:ext cx="4572000" cy="51333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49823" y="5333999"/>
              <a:ext cx="722376" cy="2194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91328" y="5343144"/>
              <a:ext cx="880871" cy="25450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45992" y="5302757"/>
              <a:ext cx="2426208" cy="29946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80616" y="5716523"/>
              <a:ext cx="9143" cy="304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00200" y="5301996"/>
              <a:ext cx="4546092" cy="51053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825751" y="5329428"/>
              <a:ext cx="4346448" cy="402335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853705" y="8550620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035B75"/>
                </a:solidFill>
                <a:latin typeface="Arial MT"/>
                <a:cs typeface="Arial MT"/>
              </a:rPr>
              <a:t>4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88592" y="5791200"/>
            <a:ext cx="3205480" cy="289560"/>
          </a:xfrm>
          <a:prstGeom prst="rect">
            <a:avLst/>
          </a:prstGeom>
          <a:solidFill>
            <a:srgbClr val="009CD8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Modelo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casos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uso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del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negocio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1757933" y="6180582"/>
          <a:ext cx="4104639" cy="2315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1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770">
                <a:tc>
                  <a:txBody>
                    <a:bodyPr/>
                    <a:lstStyle/>
                    <a:p>
                      <a:pPr marL="45085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ARTEFACTO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DESCRIPCIÓN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4925" marR="86995">
                        <a:lnSpc>
                          <a:spcPct val="100000"/>
                        </a:lnSpc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Describe</a:t>
                      </a:r>
                      <a:r>
                        <a:rPr sz="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el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valor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deseado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de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una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medida</a:t>
                      </a:r>
                      <a:r>
                        <a:rPr sz="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en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particular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futuro,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y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se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utiliza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para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planear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y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administrar</a:t>
                      </a:r>
                      <a:r>
                        <a:rPr sz="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las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actividades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del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negocio.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El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objetivo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debe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ser</a:t>
                      </a:r>
                      <a:r>
                        <a:rPr sz="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claro, mesurable,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alcanzable,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realista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y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sensible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al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tiempo.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4925" marR="224790">
                        <a:lnSpc>
                          <a:spcPct val="100000"/>
                        </a:lnSpc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Describe</a:t>
                      </a:r>
                      <a:r>
                        <a:rPr sz="8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un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proceso</a:t>
                      </a:r>
                      <a:r>
                        <a:rPr sz="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de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negocio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desde</a:t>
                      </a:r>
                      <a:r>
                        <a:rPr sz="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un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punto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de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 vista</a:t>
                      </a:r>
                      <a:r>
                        <a:rPr sz="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externo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que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percibe</a:t>
                      </a:r>
                      <a:r>
                        <a:rPr sz="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algún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tipo</a:t>
                      </a:r>
                      <a:r>
                        <a:rPr sz="8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de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valor.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31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4925" marR="520700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Representa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un rol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que algo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o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alguien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externo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desempeña</a:t>
                      </a:r>
                      <a:r>
                        <a:rPr sz="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en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relación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con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el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negocio.</a:t>
                      </a:r>
                      <a:endParaRPr sz="800">
                        <a:latin typeface="Arial MT"/>
                        <a:cs typeface="Arial MT"/>
                      </a:endParaRPr>
                    </a:p>
                    <a:p>
                      <a:pPr marL="34925" marR="41910" indent="28575">
                        <a:lnSpc>
                          <a:spcPct val="100000"/>
                        </a:lnSpc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Puede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iniciar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el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proceso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o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participar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en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él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debido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que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 recibirá</a:t>
                      </a:r>
                      <a:r>
                        <a:rPr sz="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algún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resultado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de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valor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del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proceso.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96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3" name="object 2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065020" y="6403847"/>
            <a:ext cx="807720" cy="592835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962911" y="7088123"/>
            <a:ext cx="1030223" cy="583692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174748" y="7752588"/>
            <a:ext cx="669035" cy="670560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1600200" y="5303520"/>
            <a:ext cx="4572000" cy="3427729"/>
          </a:xfrm>
          <a:custGeom>
            <a:avLst/>
            <a:gdLst/>
            <a:ahLst/>
            <a:cxnLst/>
            <a:rect l="l" t="t" r="r" b="b"/>
            <a:pathLst>
              <a:path w="4572000" h="3427729">
                <a:moveTo>
                  <a:pt x="0" y="3427476"/>
                </a:moveTo>
                <a:lnTo>
                  <a:pt x="4572000" y="3427476"/>
                </a:lnTo>
                <a:lnTo>
                  <a:pt x="4572000" y="0"/>
                </a:lnTo>
                <a:lnTo>
                  <a:pt x="0" y="0"/>
                </a:lnTo>
                <a:lnTo>
                  <a:pt x="0" y="3427476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846326" y="2643378"/>
          <a:ext cx="4188460" cy="1080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2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485"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ESTEREOTIPO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DESCRIPCIÓN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2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 marR="146050">
                        <a:lnSpc>
                          <a:spcPct val="100200"/>
                        </a:lnSpc>
                        <a:spcBef>
                          <a:spcPts val="14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Describe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el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valor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deseado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una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medida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en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particular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futuro,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y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se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utiliza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para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planear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y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administrar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las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actividades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del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negocio.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El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objetivo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debe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ser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claro,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mesurarle,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alcanzable,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realista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y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sensible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al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tiempo.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84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1763" y="3075432"/>
            <a:ext cx="786384" cy="57759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76983" y="1932432"/>
            <a:ext cx="3639820" cy="289560"/>
          </a:xfrm>
          <a:prstGeom prst="rect">
            <a:avLst/>
          </a:prstGeom>
          <a:solidFill>
            <a:srgbClr val="009CD8"/>
          </a:solidFill>
        </p:spPr>
        <p:txBody>
          <a:bodyPr vert="horz" wrap="square" lIns="0" tIns="12065" rIns="0" bIns="0" rtlCol="0">
            <a:spAutoFit/>
          </a:bodyPr>
          <a:lstStyle/>
          <a:p>
            <a:pPr marL="784860">
              <a:lnSpc>
                <a:spcPct val="100000"/>
              </a:lnSpc>
              <a:spcBef>
                <a:spcPts val="95"/>
              </a:spcBef>
            </a:pP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Objetivo</a:t>
            </a:r>
            <a:r>
              <a:rPr sz="15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del</a:t>
            </a:r>
            <a:r>
              <a:rPr sz="15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Negocio</a:t>
            </a:r>
            <a:r>
              <a:rPr sz="15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20" dirty="0">
                <a:solidFill>
                  <a:srgbClr val="FFFFFF"/>
                </a:solidFill>
                <a:latin typeface="Calibri"/>
                <a:cs typeface="Calibri"/>
              </a:rPr>
              <a:t>(ON)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00200" y="132588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4572000" h="3429000">
                <a:moveTo>
                  <a:pt x="0" y="3429000"/>
                </a:moveTo>
                <a:lnTo>
                  <a:pt x="4572000" y="3429000"/>
                </a:lnTo>
                <a:lnTo>
                  <a:pt x="4572000" y="0"/>
                </a:lnTo>
                <a:lnTo>
                  <a:pt x="0" y="0"/>
                </a:lnTo>
                <a:lnTo>
                  <a:pt x="0" y="342900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600200" y="5301996"/>
            <a:ext cx="4572000" cy="3429000"/>
            <a:chOff x="1600200" y="5301996"/>
            <a:chExt cx="4572000" cy="3429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1351" y="5467096"/>
              <a:ext cx="622705" cy="1015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22548" y="5301996"/>
              <a:ext cx="767485" cy="17525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5282" y="5479796"/>
              <a:ext cx="1086917" cy="17119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06706" y="5474207"/>
              <a:ext cx="3017337" cy="17678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12701" y="5474207"/>
              <a:ext cx="659526" cy="10718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00200" y="5647944"/>
              <a:ext cx="4572000" cy="308305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00200" y="5302249"/>
              <a:ext cx="4572000" cy="51333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49823" y="5333999"/>
              <a:ext cx="722376" cy="2194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91328" y="5343144"/>
              <a:ext cx="880871" cy="25450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45992" y="5302757"/>
              <a:ext cx="2426208" cy="29946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80616" y="5716523"/>
              <a:ext cx="9143" cy="304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00200" y="5301996"/>
              <a:ext cx="4546092" cy="51053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825751" y="5329428"/>
              <a:ext cx="4346448" cy="40233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645651" y="6502907"/>
              <a:ext cx="40005" cy="1564005"/>
            </a:xfrm>
            <a:custGeom>
              <a:avLst/>
              <a:gdLst/>
              <a:ahLst/>
              <a:cxnLst/>
              <a:rect l="l" t="t" r="r" b="b"/>
              <a:pathLst>
                <a:path w="40005" h="1564004">
                  <a:moveTo>
                    <a:pt x="39624" y="1537716"/>
                  </a:moveTo>
                  <a:lnTo>
                    <a:pt x="38100" y="1533144"/>
                  </a:lnTo>
                  <a:lnTo>
                    <a:pt x="33528" y="1530096"/>
                  </a:lnTo>
                  <a:lnTo>
                    <a:pt x="28956" y="1525524"/>
                  </a:lnTo>
                  <a:lnTo>
                    <a:pt x="24384" y="1524000"/>
                  </a:lnTo>
                  <a:lnTo>
                    <a:pt x="13716" y="1524000"/>
                  </a:lnTo>
                  <a:lnTo>
                    <a:pt x="9144" y="1525524"/>
                  </a:lnTo>
                  <a:lnTo>
                    <a:pt x="6096" y="1530096"/>
                  </a:lnTo>
                  <a:lnTo>
                    <a:pt x="1524" y="1533144"/>
                  </a:lnTo>
                  <a:lnTo>
                    <a:pt x="0" y="1537716"/>
                  </a:lnTo>
                  <a:lnTo>
                    <a:pt x="0" y="1548384"/>
                  </a:lnTo>
                  <a:lnTo>
                    <a:pt x="1524" y="1552956"/>
                  </a:lnTo>
                  <a:lnTo>
                    <a:pt x="6096" y="1557528"/>
                  </a:lnTo>
                  <a:lnTo>
                    <a:pt x="9144" y="1562100"/>
                  </a:lnTo>
                  <a:lnTo>
                    <a:pt x="13716" y="1563624"/>
                  </a:lnTo>
                  <a:lnTo>
                    <a:pt x="24384" y="1563624"/>
                  </a:lnTo>
                  <a:lnTo>
                    <a:pt x="28956" y="1562100"/>
                  </a:lnTo>
                  <a:lnTo>
                    <a:pt x="38100" y="1552956"/>
                  </a:lnTo>
                  <a:lnTo>
                    <a:pt x="39624" y="1548384"/>
                  </a:lnTo>
                  <a:lnTo>
                    <a:pt x="39624" y="1537716"/>
                  </a:lnTo>
                  <a:close/>
                </a:path>
                <a:path w="40005" h="1564004">
                  <a:moveTo>
                    <a:pt x="39624" y="1156716"/>
                  </a:moveTo>
                  <a:lnTo>
                    <a:pt x="38100" y="1152144"/>
                  </a:lnTo>
                  <a:lnTo>
                    <a:pt x="33528" y="1149096"/>
                  </a:lnTo>
                  <a:lnTo>
                    <a:pt x="28956" y="1144524"/>
                  </a:lnTo>
                  <a:lnTo>
                    <a:pt x="24384" y="1143000"/>
                  </a:lnTo>
                  <a:lnTo>
                    <a:pt x="13716" y="1143000"/>
                  </a:lnTo>
                  <a:lnTo>
                    <a:pt x="9144" y="1144524"/>
                  </a:lnTo>
                  <a:lnTo>
                    <a:pt x="6096" y="1149096"/>
                  </a:lnTo>
                  <a:lnTo>
                    <a:pt x="1524" y="1152144"/>
                  </a:lnTo>
                  <a:lnTo>
                    <a:pt x="0" y="1156716"/>
                  </a:lnTo>
                  <a:lnTo>
                    <a:pt x="0" y="1167384"/>
                  </a:lnTo>
                  <a:lnTo>
                    <a:pt x="1524" y="1171956"/>
                  </a:lnTo>
                  <a:lnTo>
                    <a:pt x="6096" y="1176528"/>
                  </a:lnTo>
                  <a:lnTo>
                    <a:pt x="9144" y="1181100"/>
                  </a:lnTo>
                  <a:lnTo>
                    <a:pt x="13716" y="1182624"/>
                  </a:lnTo>
                  <a:lnTo>
                    <a:pt x="24384" y="1182624"/>
                  </a:lnTo>
                  <a:lnTo>
                    <a:pt x="28956" y="1181100"/>
                  </a:lnTo>
                  <a:lnTo>
                    <a:pt x="38100" y="1171956"/>
                  </a:lnTo>
                  <a:lnTo>
                    <a:pt x="39624" y="1167384"/>
                  </a:lnTo>
                  <a:lnTo>
                    <a:pt x="39624" y="1156716"/>
                  </a:lnTo>
                  <a:close/>
                </a:path>
                <a:path w="40005" h="1564004">
                  <a:moveTo>
                    <a:pt x="39624" y="775716"/>
                  </a:moveTo>
                  <a:lnTo>
                    <a:pt x="38100" y="771144"/>
                  </a:lnTo>
                  <a:lnTo>
                    <a:pt x="33528" y="766572"/>
                  </a:lnTo>
                  <a:lnTo>
                    <a:pt x="28956" y="763524"/>
                  </a:lnTo>
                  <a:lnTo>
                    <a:pt x="24384" y="762000"/>
                  </a:lnTo>
                  <a:lnTo>
                    <a:pt x="13716" y="762000"/>
                  </a:lnTo>
                  <a:lnTo>
                    <a:pt x="9144" y="763524"/>
                  </a:lnTo>
                  <a:lnTo>
                    <a:pt x="1524" y="771144"/>
                  </a:lnTo>
                  <a:lnTo>
                    <a:pt x="0" y="775716"/>
                  </a:lnTo>
                  <a:lnTo>
                    <a:pt x="0" y="786384"/>
                  </a:lnTo>
                  <a:lnTo>
                    <a:pt x="1524" y="790956"/>
                  </a:lnTo>
                  <a:lnTo>
                    <a:pt x="6096" y="795528"/>
                  </a:lnTo>
                  <a:lnTo>
                    <a:pt x="9144" y="798576"/>
                  </a:lnTo>
                  <a:lnTo>
                    <a:pt x="13716" y="801624"/>
                  </a:lnTo>
                  <a:lnTo>
                    <a:pt x="24384" y="801624"/>
                  </a:lnTo>
                  <a:lnTo>
                    <a:pt x="33528" y="795528"/>
                  </a:lnTo>
                  <a:lnTo>
                    <a:pt x="38100" y="790956"/>
                  </a:lnTo>
                  <a:lnTo>
                    <a:pt x="39624" y="786384"/>
                  </a:lnTo>
                  <a:lnTo>
                    <a:pt x="39624" y="775716"/>
                  </a:lnTo>
                  <a:close/>
                </a:path>
                <a:path w="40005" h="1564004">
                  <a:moveTo>
                    <a:pt x="39624" y="394716"/>
                  </a:moveTo>
                  <a:lnTo>
                    <a:pt x="38100" y="390144"/>
                  </a:lnTo>
                  <a:lnTo>
                    <a:pt x="33528" y="385572"/>
                  </a:lnTo>
                  <a:lnTo>
                    <a:pt x="28956" y="382524"/>
                  </a:lnTo>
                  <a:lnTo>
                    <a:pt x="24384" y="381000"/>
                  </a:lnTo>
                  <a:lnTo>
                    <a:pt x="13716" y="381000"/>
                  </a:lnTo>
                  <a:lnTo>
                    <a:pt x="9144" y="382524"/>
                  </a:lnTo>
                  <a:lnTo>
                    <a:pt x="1524" y="390144"/>
                  </a:lnTo>
                  <a:lnTo>
                    <a:pt x="0" y="394716"/>
                  </a:lnTo>
                  <a:lnTo>
                    <a:pt x="0" y="405384"/>
                  </a:lnTo>
                  <a:lnTo>
                    <a:pt x="1524" y="409956"/>
                  </a:lnTo>
                  <a:lnTo>
                    <a:pt x="6096" y="414528"/>
                  </a:lnTo>
                  <a:lnTo>
                    <a:pt x="9144" y="417576"/>
                  </a:lnTo>
                  <a:lnTo>
                    <a:pt x="13716" y="420624"/>
                  </a:lnTo>
                  <a:lnTo>
                    <a:pt x="24384" y="420624"/>
                  </a:lnTo>
                  <a:lnTo>
                    <a:pt x="33528" y="414528"/>
                  </a:lnTo>
                  <a:lnTo>
                    <a:pt x="38100" y="409956"/>
                  </a:lnTo>
                  <a:lnTo>
                    <a:pt x="39624" y="405384"/>
                  </a:lnTo>
                  <a:lnTo>
                    <a:pt x="39624" y="394716"/>
                  </a:lnTo>
                  <a:close/>
                </a:path>
                <a:path w="40005" h="1564004">
                  <a:moveTo>
                    <a:pt x="39624" y="13716"/>
                  </a:moveTo>
                  <a:lnTo>
                    <a:pt x="38100" y="9144"/>
                  </a:lnTo>
                  <a:lnTo>
                    <a:pt x="33528" y="4572"/>
                  </a:lnTo>
                  <a:lnTo>
                    <a:pt x="28956" y="1524"/>
                  </a:lnTo>
                  <a:lnTo>
                    <a:pt x="24384" y="0"/>
                  </a:lnTo>
                  <a:lnTo>
                    <a:pt x="13716" y="0"/>
                  </a:lnTo>
                  <a:lnTo>
                    <a:pt x="9144" y="1524"/>
                  </a:lnTo>
                  <a:lnTo>
                    <a:pt x="1524" y="9144"/>
                  </a:lnTo>
                  <a:lnTo>
                    <a:pt x="0" y="13716"/>
                  </a:lnTo>
                  <a:lnTo>
                    <a:pt x="0" y="24384"/>
                  </a:lnTo>
                  <a:lnTo>
                    <a:pt x="1524" y="28956"/>
                  </a:lnTo>
                  <a:lnTo>
                    <a:pt x="6096" y="33528"/>
                  </a:lnTo>
                  <a:lnTo>
                    <a:pt x="9144" y="36576"/>
                  </a:lnTo>
                  <a:lnTo>
                    <a:pt x="13716" y="39624"/>
                  </a:lnTo>
                  <a:lnTo>
                    <a:pt x="24384" y="39624"/>
                  </a:lnTo>
                  <a:lnTo>
                    <a:pt x="33528" y="33528"/>
                  </a:lnTo>
                  <a:lnTo>
                    <a:pt x="38100" y="28956"/>
                  </a:lnTo>
                  <a:lnTo>
                    <a:pt x="39624" y="24384"/>
                  </a:lnTo>
                  <a:lnTo>
                    <a:pt x="39624" y="1371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600200" y="5303520"/>
            <a:ext cx="4572000" cy="3427729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250">
              <a:latin typeface="Times New Roman"/>
              <a:cs typeface="Times New Roman"/>
            </a:endParaRPr>
          </a:p>
          <a:p>
            <a:pPr marL="1036319">
              <a:lnSpc>
                <a:spcPct val="100000"/>
              </a:lnSpc>
            </a:pPr>
            <a:r>
              <a:rPr sz="1250" dirty="0">
                <a:latin typeface="Arial MT"/>
                <a:cs typeface="Arial MT"/>
              </a:rPr>
              <a:t>El</a:t>
            </a:r>
            <a:r>
              <a:rPr sz="1250" spc="-4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objetivo</a:t>
            </a:r>
            <a:r>
              <a:rPr sz="1250" spc="-3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debe</a:t>
            </a:r>
            <a:r>
              <a:rPr sz="1250" spc="-55" dirty="0">
                <a:latin typeface="Arial MT"/>
                <a:cs typeface="Arial MT"/>
              </a:rPr>
              <a:t> </a:t>
            </a:r>
            <a:r>
              <a:rPr sz="1250" spc="-20" dirty="0">
                <a:latin typeface="Arial MT"/>
                <a:cs typeface="Arial MT"/>
              </a:rPr>
              <a:t>ser:</a:t>
            </a:r>
            <a:endParaRPr sz="1250">
              <a:latin typeface="Arial MT"/>
              <a:cs typeface="Arial MT"/>
            </a:endParaRPr>
          </a:p>
          <a:p>
            <a:pPr marL="1122680" marR="408940">
              <a:lnSpc>
                <a:spcPct val="100000"/>
              </a:lnSpc>
            </a:pPr>
            <a:r>
              <a:rPr sz="125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Claro</a:t>
            </a:r>
            <a:r>
              <a:rPr sz="125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sobre</a:t>
            </a:r>
            <a:r>
              <a:rPr sz="1250" spc="-4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qué,</a:t>
            </a:r>
            <a:r>
              <a:rPr sz="1250" spc="-2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dónde,</a:t>
            </a:r>
            <a:r>
              <a:rPr sz="1250" spc="-4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cuándo</a:t>
            </a:r>
            <a:r>
              <a:rPr sz="1250" spc="-4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y</a:t>
            </a:r>
            <a:r>
              <a:rPr sz="1250" spc="-3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cómo</a:t>
            </a:r>
            <a:r>
              <a:rPr sz="1250" spc="-50" dirty="0">
                <a:latin typeface="Arial MT"/>
                <a:cs typeface="Arial MT"/>
              </a:rPr>
              <a:t> </a:t>
            </a:r>
            <a:r>
              <a:rPr sz="1250" spc="-25" dirty="0">
                <a:latin typeface="Arial MT"/>
                <a:cs typeface="Arial MT"/>
              </a:rPr>
              <a:t>va </a:t>
            </a:r>
            <a:r>
              <a:rPr sz="1250" dirty="0">
                <a:latin typeface="Arial MT"/>
                <a:cs typeface="Arial MT"/>
              </a:rPr>
              <a:t>a</a:t>
            </a:r>
            <a:r>
              <a:rPr sz="1250" spc="-3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cambiar</a:t>
            </a:r>
            <a:r>
              <a:rPr sz="1250" spc="-4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la</a:t>
            </a:r>
            <a:r>
              <a:rPr sz="1250" spc="-3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situación</a:t>
            </a:r>
            <a:r>
              <a:rPr sz="1250" spc="-40" dirty="0">
                <a:latin typeface="Arial MT"/>
                <a:cs typeface="Arial MT"/>
              </a:rPr>
              <a:t> </a:t>
            </a:r>
            <a:r>
              <a:rPr sz="1250" spc="-50" dirty="0">
                <a:latin typeface="Arial MT"/>
                <a:cs typeface="Arial MT"/>
              </a:rPr>
              <a:t>.</a:t>
            </a:r>
            <a:endParaRPr sz="1250">
              <a:latin typeface="Arial MT"/>
              <a:cs typeface="Arial MT"/>
            </a:endParaRPr>
          </a:p>
          <a:p>
            <a:pPr marL="1122680" marR="487680">
              <a:lnSpc>
                <a:spcPct val="100000"/>
              </a:lnSpc>
            </a:pPr>
            <a:r>
              <a:rPr sz="125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Mesurable</a:t>
            </a:r>
            <a:r>
              <a:rPr sz="1250" dirty="0">
                <a:latin typeface="Arial MT"/>
                <a:cs typeface="Arial MT"/>
              </a:rPr>
              <a:t>,</a:t>
            </a:r>
            <a:r>
              <a:rPr sz="1250" spc="-3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que</a:t>
            </a:r>
            <a:r>
              <a:rPr sz="1250" spc="-5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sea</a:t>
            </a:r>
            <a:r>
              <a:rPr sz="1250" spc="-6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posible</a:t>
            </a:r>
            <a:r>
              <a:rPr sz="1250" spc="-5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cuantificar</a:t>
            </a:r>
            <a:r>
              <a:rPr sz="1250" spc="-50" dirty="0">
                <a:latin typeface="Arial MT"/>
                <a:cs typeface="Arial MT"/>
              </a:rPr>
              <a:t> </a:t>
            </a:r>
            <a:r>
              <a:rPr sz="1250" spc="-25" dirty="0">
                <a:latin typeface="Arial MT"/>
                <a:cs typeface="Arial MT"/>
              </a:rPr>
              <a:t>los </a:t>
            </a:r>
            <a:r>
              <a:rPr sz="1250" dirty="0">
                <a:latin typeface="Arial MT"/>
                <a:cs typeface="Arial MT"/>
              </a:rPr>
              <a:t>fines</a:t>
            </a:r>
            <a:r>
              <a:rPr sz="1250" spc="-3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y</a:t>
            </a:r>
            <a:r>
              <a:rPr sz="1250" spc="-15" dirty="0">
                <a:latin typeface="Arial MT"/>
                <a:cs typeface="Arial MT"/>
              </a:rPr>
              <a:t> </a:t>
            </a:r>
            <a:r>
              <a:rPr sz="1250" spc="-10" dirty="0">
                <a:latin typeface="Arial MT"/>
                <a:cs typeface="Arial MT"/>
              </a:rPr>
              <a:t>beneficios.</a:t>
            </a:r>
            <a:endParaRPr sz="1250">
              <a:latin typeface="Arial MT"/>
              <a:cs typeface="Arial MT"/>
            </a:endParaRPr>
          </a:p>
          <a:p>
            <a:pPr marL="1122680" marR="540385">
              <a:lnSpc>
                <a:spcPct val="100000"/>
              </a:lnSpc>
            </a:pPr>
            <a:r>
              <a:rPr sz="125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Alcanzable</a:t>
            </a:r>
            <a:r>
              <a:rPr sz="1250" dirty="0">
                <a:latin typeface="Arial MT"/>
                <a:cs typeface="Arial MT"/>
              </a:rPr>
              <a:t>,</a:t>
            </a:r>
            <a:r>
              <a:rPr sz="1250" spc="-4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que</a:t>
            </a:r>
            <a:r>
              <a:rPr sz="1250" spc="-5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sea</a:t>
            </a:r>
            <a:r>
              <a:rPr sz="1250" spc="-6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posible</a:t>
            </a:r>
            <a:r>
              <a:rPr sz="1250" spc="-5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lograrlo</a:t>
            </a:r>
            <a:r>
              <a:rPr sz="1250" spc="-55" dirty="0">
                <a:latin typeface="Arial MT"/>
                <a:cs typeface="Arial MT"/>
              </a:rPr>
              <a:t> </a:t>
            </a:r>
            <a:r>
              <a:rPr sz="1250" spc="-20" dirty="0">
                <a:latin typeface="Arial MT"/>
                <a:cs typeface="Arial MT"/>
              </a:rPr>
              <a:t>(con </a:t>
            </a:r>
            <a:r>
              <a:rPr sz="1250" dirty="0">
                <a:latin typeface="Arial MT"/>
                <a:cs typeface="Arial MT"/>
              </a:rPr>
              <a:t>recursos</a:t>
            </a:r>
            <a:r>
              <a:rPr sz="1250" spc="-1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y</a:t>
            </a:r>
            <a:r>
              <a:rPr sz="1250" spc="-20" dirty="0">
                <a:latin typeface="Arial MT"/>
                <a:cs typeface="Arial MT"/>
              </a:rPr>
              <a:t> </a:t>
            </a:r>
            <a:r>
              <a:rPr sz="1250" spc="-10" dirty="0">
                <a:latin typeface="Arial MT"/>
                <a:cs typeface="Arial MT"/>
              </a:rPr>
              <a:t>capacidades</a:t>
            </a:r>
            <a:r>
              <a:rPr sz="1250" spc="-2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a</a:t>
            </a:r>
            <a:r>
              <a:rPr sz="1250" spc="-20" dirty="0">
                <a:latin typeface="Arial MT"/>
                <a:cs typeface="Arial MT"/>
              </a:rPr>
              <a:t> </a:t>
            </a:r>
            <a:r>
              <a:rPr sz="1250" spc="-10" dirty="0">
                <a:latin typeface="Arial MT"/>
                <a:cs typeface="Arial MT"/>
              </a:rPr>
              <a:t>disposición).</a:t>
            </a:r>
            <a:endParaRPr sz="1250">
              <a:latin typeface="Arial MT"/>
              <a:cs typeface="Arial MT"/>
            </a:endParaRPr>
          </a:p>
          <a:p>
            <a:pPr marL="1122680" marR="329565">
              <a:lnSpc>
                <a:spcPct val="100000"/>
              </a:lnSpc>
            </a:pPr>
            <a:r>
              <a:rPr sz="125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Realista</a:t>
            </a:r>
            <a:r>
              <a:rPr sz="1250" dirty="0">
                <a:latin typeface="Arial MT"/>
                <a:cs typeface="Arial MT"/>
              </a:rPr>
              <a:t>,</a:t>
            </a:r>
            <a:r>
              <a:rPr sz="1250" spc="-4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que</a:t>
            </a:r>
            <a:r>
              <a:rPr sz="1250" spc="-5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sea</a:t>
            </a:r>
            <a:r>
              <a:rPr sz="1250" spc="-5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posible</a:t>
            </a:r>
            <a:r>
              <a:rPr sz="1250" spc="-3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obtener</a:t>
            </a:r>
            <a:r>
              <a:rPr sz="1250" spc="-4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el</a:t>
            </a:r>
            <a:r>
              <a:rPr sz="1250" spc="-4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nivel</a:t>
            </a:r>
            <a:r>
              <a:rPr sz="1250" spc="-30" dirty="0">
                <a:latin typeface="Arial MT"/>
                <a:cs typeface="Arial MT"/>
              </a:rPr>
              <a:t> </a:t>
            </a:r>
            <a:r>
              <a:rPr sz="1250" spc="-25" dirty="0">
                <a:latin typeface="Arial MT"/>
                <a:cs typeface="Arial MT"/>
              </a:rPr>
              <a:t>de </a:t>
            </a:r>
            <a:r>
              <a:rPr sz="1250" dirty="0">
                <a:latin typeface="Arial MT"/>
                <a:cs typeface="Arial MT"/>
              </a:rPr>
              <a:t>cambio</a:t>
            </a:r>
            <a:r>
              <a:rPr sz="1250" spc="-35" dirty="0">
                <a:latin typeface="Arial MT"/>
                <a:cs typeface="Arial MT"/>
              </a:rPr>
              <a:t> </a:t>
            </a:r>
            <a:r>
              <a:rPr sz="1250" spc="-10" dirty="0">
                <a:latin typeface="Arial MT"/>
                <a:cs typeface="Arial MT"/>
              </a:rPr>
              <a:t>reflejado.</a:t>
            </a:r>
            <a:endParaRPr sz="1250">
              <a:latin typeface="Arial MT"/>
              <a:cs typeface="Arial MT"/>
            </a:endParaRPr>
          </a:p>
          <a:p>
            <a:pPr marL="1122680" marR="337820">
              <a:lnSpc>
                <a:spcPct val="100000"/>
              </a:lnSpc>
            </a:pPr>
            <a:r>
              <a:rPr sz="125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Sensible</a:t>
            </a:r>
            <a:r>
              <a:rPr sz="1250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</a:t>
            </a:r>
            <a:r>
              <a:rPr sz="125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al</a:t>
            </a:r>
            <a:r>
              <a:rPr sz="1250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</a:t>
            </a:r>
            <a:r>
              <a:rPr sz="125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tiempo</a:t>
            </a:r>
            <a:r>
              <a:rPr sz="1250" dirty="0">
                <a:latin typeface="Arial MT"/>
                <a:cs typeface="Arial MT"/>
              </a:rPr>
              <a:t>,</a:t>
            </a:r>
            <a:r>
              <a:rPr sz="1250" spc="-30" dirty="0">
                <a:latin typeface="Arial MT"/>
                <a:cs typeface="Arial MT"/>
              </a:rPr>
              <a:t> </a:t>
            </a:r>
            <a:r>
              <a:rPr sz="1250" spc="-10" dirty="0">
                <a:latin typeface="Arial MT"/>
                <a:cs typeface="Arial MT"/>
              </a:rPr>
              <a:t>estableciendo</a:t>
            </a:r>
            <a:r>
              <a:rPr sz="1250" spc="-3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el</a:t>
            </a:r>
            <a:r>
              <a:rPr sz="1250" spc="-25" dirty="0">
                <a:latin typeface="Arial MT"/>
                <a:cs typeface="Arial MT"/>
              </a:rPr>
              <a:t> </a:t>
            </a:r>
            <a:r>
              <a:rPr sz="1250" spc="-10" dirty="0">
                <a:latin typeface="Arial MT"/>
                <a:cs typeface="Arial MT"/>
              </a:rPr>
              <a:t>periodo </a:t>
            </a:r>
            <a:r>
              <a:rPr sz="1250" dirty="0">
                <a:latin typeface="Arial MT"/>
                <a:cs typeface="Arial MT"/>
              </a:rPr>
              <a:t>de</a:t>
            </a:r>
            <a:r>
              <a:rPr sz="1250" spc="-3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tiempo</a:t>
            </a:r>
            <a:r>
              <a:rPr sz="1250" spc="-4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en</a:t>
            </a:r>
            <a:r>
              <a:rPr sz="1250" spc="-2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el</a:t>
            </a:r>
            <a:r>
              <a:rPr sz="1250" spc="-3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que</a:t>
            </a:r>
            <a:r>
              <a:rPr sz="1250" spc="-2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debe</a:t>
            </a:r>
            <a:r>
              <a:rPr sz="1250" spc="-30" dirty="0">
                <a:latin typeface="Arial MT"/>
                <a:cs typeface="Arial MT"/>
              </a:rPr>
              <a:t> </a:t>
            </a:r>
            <a:r>
              <a:rPr sz="1250" spc="-10" dirty="0">
                <a:latin typeface="Arial MT"/>
                <a:cs typeface="Arial MT"/>
              </a:rPr>
              <a:t>concretarse.</a:t>
            </a:r>
            <a:endParaRPr sz="12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250">
              <a:latin typeface="Arial MT"/>
              <a:cs typeface="Arial MT"/>
            </a:endParaRPr>
          </a:p>
          <a:p>
            <a:pPr marL="2540" algn="ctr">
              <a:lnSpc>
                <a:spcPct val="100000"/>
              </a:lnSpc>
            </a:pPr>
            <a:r>
              <a:rPr sz="600" spc="-50" dirty="0">
                <a:solidFill>
                  <a:srgbClr val="035B75"/>
                </a:solidFill>
                <a:latin typeface="Arial MT"/>
                <a:cs typeface="Arial MT"/>
              </a:rPr>
              <a:t>6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88592" y="5791200"/>
            <a:ext cx="3205480" cy="289560"/>
          </a:xfrm>
          <a:prstGeom prst="rect">
            <a:avLst/>
          </a:prstGeom>
          <a:solidFill>
            <a:srgbClr val="009CD8"/>
          </a:solidFill>
        </p:spPr>
        <p:txBody>
          <a:bodyPr vert="horz" wrap="square" lIns="0" tIns="13335" rIns="0" bIns="0" rtlCol="0">
            <a:spAutoFit/>
          </a:bodyPr>
          <a:lstStyle/>
          <a:p>
            <a:pPr marL="1270">
              <a:lnSpc>
                <a:spcPct val="100000"/>
              </a:lnSpc>
              <a:spcBef>
                <a:spcPts val="105"/>
              </a:spcBef>
            </a:pP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Características</a:t>
            </a:r>
            <a:r>
              <a:rPr sz="15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5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un</a:t>
            </a:r>
            <a:r>
              <a:rPr sz="15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600200" y="6836664"/>
            <a:ext cx="964691" cy="707135"/>
          </a:xfrm>
          <a:prstGeom prst="rect">
            <a:avLst/>
          </a:prstGeom>
        </p:spPr>
      </p:pic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846326" y="2643378"/>
          <a:ext cx="4188460" cy="980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2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485"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ESTEREOTIPO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DESCRIPCIÓN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 marR="5270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Describe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un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proceso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de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negocio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desde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un</a:t>
                      </a:r>
                      <a:r>
                        <a:rPr sz="1100" spc="5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punto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de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vista externo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que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percibe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algún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tipo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de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valor.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377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885188" y="2039111"/>
            <a:ext cx="3637915" cy="289560"/>
          </a:xfrm>
          <a:prstGeom prst="rect">
            <a:avLst/>
          </a:prstGeom>
          <a:solidFill>
            <a:srgbClr val="009CD8"/>
          </a:solidFill>
        </p:spPr>
        <p:txBody>
          <a:bodyPr vert="horz" wrap="square" lIns="0" tIns="12065" rIns="0" bIns="0" rtlCol="0">
            <a:spAutoFit/>
          </a:bodyPr>
          <a:lstStyle/>
          <a:p>
            <a:pPr marL="595630">
              <a:lnSpc>
                <a:spcPct val="100000"/>
              </a:lnSpc>
              <a:spcBef>
                <a:spcPts val="95"/>
              </a:spcBef>
            </a:pP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Caso</a:t>
            </a:r>
            <a:r>
              <a:rPr sz="15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5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Uso</a:t>
            </a:r>
            <a:r>
              <a:rPr sz="15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del</a:t>
            </a: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Negocio</a:t>
            </a:r>
            <a:r>
              <a:rPr sz="15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20" dirty="0">
                <a:solidFill>
                  <a:srgbClr val="FFFFFF"/>
                </a:solidFill>
                <a:latin typeface="Calibri"/>
                <a:cs typeface="Calibri"/>
              </a:rPr>
              <a:t>(CUN)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3392" y="2968751"/>
            <a:ext cx="856488" cy="46482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600200" y="132588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4572000" h="3429000">
                <a:moveTo>
                  <a:pt x="0" y="3429000"/>
                </a:moveTo>
                <a:lnTo>
                  <a:pt x="4572000" y="3429000"/>
                </a:lnTo>
                <a:lnTo>
                  <a:pt x="4572000" y="0"/>
                </a:lnTo>
                <a:lnTo>
                  <a:pt x="0" y="0"/>
                </a:lnTo>
                <a:lnTo>
                  <a:pt x="0" y="342900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600200" y="5301996"/>
            <a:ext cx="4572000" cy="3429000"/>
            <a:chOff x="1600200" y="5301996"/>
            <a:chExt cx="4572000" cy="3429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1351" y="5467096"/>
              <a:ext cx="622705" cy="1015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22548" y="5301996"/>
              <a:ext cx="767485" cy="17525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5282" y="5479796"/>
              <a:ext cx="1086917" cy="17119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06706" y="5474207"/>
              <a:ext cx="3017337" cy="17678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12701" y="5474207"/>
              <a:ext cx="659526" cy="10718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00200" y="5647944"/>
              <a:ext cx="4572000" cy="308305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00200" y="5302249"/>
              <a:ext cx="4572000" cy="51333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49823" y="5333999"/>
              <a:ext cx="722376" cy="2194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91328" y="5343144"/>
              <a:ext cx="880871" cy="25450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45992" y="5302757"/>
              <a:ext cx="2426208" cy="29946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80616" y="5716523"/>
              <a:ext cx="9143" cy="304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00200" y="5301996"/>
              <a:ext cx="4546092" cy="51053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825751" y="5329428"/>
              <a:ext cx="4346448" cy="40233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862071" y="6316980"/>
              <a:ext cx="41275" cy="41275"/>
            </a:xfrm>
            <a:custGeom>
              <a:avLst/>
              <a:gdLst/>
              <a:ahLst/>
              <a:cxnLst/>
              <a:rect l="l" t="t" r="r" b="b"/>
              <a:pathLst>
                <a:path w="41275" h="41275">
                  <a:moveTo>
                    <a:pt x="25907" y="41147"/>
                  </a:moveTo>
                  <a:lnTo>
                    <a:pt x="13715" y="41147"/>
                  </a:lnTo>
                  <a:lnTo>
                    <a:pt x="9143" y="38099"/>
                  </a:lnTo>
                  <a:lnTo>
                    <a:pt x="6095" y="35051"/>
                  </a:lnTo>
                  <a:lnTo>
                    <a:pt x="1523" y="30479"/>
                  </a:lnTo>
                  <a:lnTo>
                    <a:pt x="0" y="25907"/>
                  </a:lnTo>
                  <a:lnTo>
                    <a:pt x="0" y="13715"/>
                  </a:lnTo>
                  <a:lnTo>
                    <a:pt x="1523" y="9143"/>
                  </a:lnTo>
                  <a:lnTo>
                    <a:pt x="6095" y="6095"/>
                  </a:lnTo>
                  <a:lnTo>
                    <a:pt x="9143" y="1523"/>
                  </a:lnTo>
                  <a:lnTo>
                    <a:pt x="13715" y="0"/>
                  </a:lnTo>
                  <a:lnTo>
                    <a:pt x="25907" y="0"/>
                  </a:lnTo>
                  <a:lnTo>
                    <a:pt x="30479" y="1523"/>
                  </a:lnTo>
                  <a:lnTo>
                    <a:pt x="38099" y="9143"/>
                  </a:lnTo>
                  <a:lnTo>
                    <a:pt x="41147" y="13715"/>
                  </a:lnTo>
                  <a:lnTo>
                    <a:pt x="41147" y="25907"/>
                  </a:lnTo>
                  <a:lnTo>
                    <a:pt x="35051" y="35051"/>
                  </a:lnTo>
                  <a:lnTo>
                    <a:pt x="25907" y="4114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862071" y="6713219"/>
              <a:ext cx="41275" cy="41275"/>
            </a:xfrm>
            <a:custGeom>
              <a:avLst/>
              <a:gdLst/>
              <a:ahLst/>
              <a:cxnLst/>
              <a:rect l="l" t="t" r="r" b="b"/>
              <a:pathLst>
                <a:path w="41275" h="41275">
                  <a:moveTo>
                    <a:pt x="25907" y="41147"/>
                  </a:moveTo>
                  <a:lnTo>
                    <a:pt x="13715" y="41147"/>
                  </a:lnTo>
                  <a:lnTo>
                    <a:pt x="9143" y="38099"/>
                  </a:lnTo>
                  <a:lnTo>
                    <a:pt x="6095" y="35051"/>
                  </a:lnTo>
                  <a:lnTo>
                    <a:pt x="1523" y="30479"/>
                  </a:lnTo>
                  <a:lnTo>
                    <a:pt x="0" y="25907"/>
                  </a:lnTo>
                  <a:lnTo>
                    <a:pt x="0" y="13715"/>
                  </a:lnTo>
                  <a:lnTo>
                    <a:pt x="1523" y="9143"/>
                  </a:lnTo>
                  <a:lnTo>
                    <a:pt x="6095" y="6095"/>
                  </a:lnTo>
                  <a:lnTo>
                    <a:pt x="9143" y="1523"/>
                  </a:lnTo>
                  <a:lnTo>
                    <a:pt x="13715" y="0"/>
                  </a:lnTo>
                  <a:lnTo>
                    <a:pt x="25907" y="0"/>
                  </a:lnTo>
                  <a:lnTo>
                    <a:pt x="30479" y="1523"/>
                  </a:lnTo>
                  <a:lnTo>
                    <a:pt x="38099" y="9143"/>
                  </a:lnTo>
                  <a:lnTo>
                    <a:pt x="41147" y="13715"/>
                  </a:lnTo>
                  <a:lnTo>
                    <a:pt x="41147" y="25907"/>
                  </a:lnTo>
                  <a:lnTo>
                    <a:pt x="35051" y="35051"/>
                  </a:lnTo>
                  <a:lnTo>
                    <a:pt x="25907" y="411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862071" y="6911340"/>
              <a:ext cx="41275" cy="41275"/>
            </a:xfrm>
            <a:custGeom>
              <a:avLst/>
              <a:gdLst/>
              <a:ahLst/>
              <a:cxnLst/>
              <a:rect l="l" t="t" r="r" b="b"/>
              <a:pathLst>
                <a:path w="41275" h="41275">
                  <a:moveTo>
                    <a:pt x="25907" y="41147"/>
                  </a:moveTo>
                  <a:lnTo>
                    <a:pt x="13715" y="41147"/>
                  </a:lnTo>
                  <a:lnTo>
                    <a:pt x="9143" y="38099"/>
                  </a:lnTo>
                  <a:lnTo>
                    <a:pt x="6095" y="35051"/>
                  </a:lnTo>
                  <a:lnTo>
                    <a:pt x="1523" y="30479"/>
                  </a:lnTo>
                  <a:lnTo>
                    <a:pt x="0" y="25907"/>
                  </a:lnTo>
                  <a:lnTo>
                    <a:pt x="0" y="13715"/>
                  </a:lnTo>
                  <a:lnTo>
                    <a:pt x="1523" y="9143"/>
                  </a:lnTo>
                  <a:lnTo>
                    <a:pt x="6095" y="6095"/>
                  </a:lnTo>
                  <a:lnTo>
                    <a:pt x="9143" y="1523"/>
                  </a:lnTo>
                  <a:lnTo>
                    <a:pt x="13715" y="0"/>
                  </a:lnTo>
                  <a:lnTo>
                    <a:pt x="25907" y="0"/>
                  </a:lnTo>
                  <a:lnTo>
                    <a:pt x="30479" y="1523"/>
                  </a:lnTo>
                  <a:lnTo>
                    <a:pt x="38099" y="9143"/>
                  </a:lnTo>
                  <a:lnTo>
                    <a:pt x="41147" y="13715"/>
                  </a:lnTo>
                  <a:lnTo>
                    <a:pt x="41147" y="25907"/>
                  </a:lnTo>
                  <a:lnTo>
                    <a:pt x="35051" y="35051"/>
                  </a:lnTo>
                  <a:lnTo>
                    <a:pt x="25907" y="4114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862059" y="7307592"/>
              <a:ext cx="41275" cy="437515"/>
            </a:xfrm>
            <a:custGeom>
              <a:avLst/>
              <a:gdLst/>
              <a:ahLst/>
              <a:cxnLst/>
              <a:rect l="l" t="t" r="r" b="b"/>
              <a:pathLst>
                <a:path w="41275" h="437515">
                  <a:moveTo>
                    <a:pt x="41148" y="411467"/>
                  </a:moveTo>
                  <a:lnTo>
                    <a:pt x="38100" y="405371"/>
                  </a:lnTo>
                  <a:lnTo>
                    <a:pt x="30480" y="397751"/>
                  </a:lnTo>
                  <a:lnTo>
                    <a:pt x="25908" y="396227"/>
                  </a:lnTo>
                  <a:lnTo>
                    <a:pt x="13716" y="396227"/>
                  </a:lnTo>
                  <a:lnTo>
                    <a:pt x="9144" y="397751"/>
                  </a:lnTo>
                  <a:lnTo>
                    <a:pt x="6096" y="402323"/>
                  </a:lnTo>
                  <a:lnTo>
                    <a:pt x="1524" y="405371"/>
                  </a:lnTo>
                  <a:lnTo>
                    <a:pt x="0" y="411467"/>
                  </a:lnTo>
                  <a:lnTo>
                    <a:pt x="0" y="422135"/>
                  </a:lnTo>
                  <a:lnTo>
                    <a:pt x="1524" y="426707"/>
                  </a:lnTo>
                  <a:lnTo>
                    <a:pt x="6096" y="431279"/>
                  </a:lnTo>
                  <a:lnTo>
                    <a:pt x="9144" y="435851"/>
                  </a:lnTo>
                  <a:lnTo>
                    <a:pt x="13716" y="437375"/>
                  </a:lnTo>
                  <a:lnTo>
                    <a:pt x="25908" y="437375"/>
                  </a:lnTo>
                  <a:lnTo>
                    <a:pt x="30480" y="435851"/>
                  </a:lnTo>
                  <a:lnTo>
                    <a:pt x="35052" y="431279"/>
                  </a:lnTo>
                  <a:lnTo>
                    <a:pt x="41148" y="422135"/>
                  </a:lnTo>
                  <a:lnTo>
                    <a:pt x="41148" y="411467"/>
                  </a:lnTo>
                  <a:close/>
                </a:path>
                <a:path w="41275" h="437515">
                  <a:moveTo>
                    <a:pt x="41148" y="13716"/>
                  </a:moveTo>
                  <a:lnTo>
                    <a:pt x="38100" y="9144"/>
                  </a:lnTo>
                  <a:lnTo>
                    <a:pt x="30480" y="1524"/>
                  </a:lnTo>
                  <a:lnTo>
                    <a:pt x="25908" y="0"/>
                  </a:lnTo>
                  <a:lnTo>
                    <a:pt x="13716" y="0"/>
                  </a:lnTo>
                  <a:lnTo>
                    <a:pt x="9144" y="1524"/>
                  </a:lnTo>
                  <a:lnTo>
                    <a:pt x="6096" y="6096"/>
                  </a:lnTo>
                  <a:lnTo>
                    <a:pt x="1524" y="9144"/>
                  </a:lnTo>
                  <a:lnTo>
                    <a:pt x="0" y="13716"/>
                  </a:lnTo>
                  <a:lnTo>
                    <a:pt x="0" y="25908"/>
                  </a:lnTo>
                  <a:lnTo>
                    <a:pt x="1524" y="30480"/>
                  </a:lnTo>
                  <a:lnTo>
                    <a:pt x="6096" y="35052"/>
                  </a:lnTo>
                  <a:lnTo>
                    <a:pt x="9144" y="38100"/>
                  </a:lnTo>
                  <a:lnTo>
                    <a:pt x="13716" y="41148"/>
                  </a:lnTo>
                  <a:lnTo>
                    <a:pt x="25908" y="41148"/>
                  </a:lnTo>
                  <a:lnTo>
                    <a:pt x="35052" y="35052"/>
                  </a:lnTo>
                  <a:lnTo>
                    <a:pt x="41148" y="25908"/>
                  </a:lnTo>
                  <a:lnTo>
                    <a:pt x="41148" y="137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600200" y="5303520"/>
            <a:ext cx="4572000" cy="3427729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10"/>
              </a:spcBef>
            </a:pPr>
            <a:endParaRPr sz="1300">
              <a:latin typeface="Times New Roman"/>
              <a:cs typeface="Times New Roman"/>
            </a:endParaRPr>
          </a:p>
          <a:p>
            <a:pPr marL="1339215" marR="310515">
              <a:lnSpc>
                <a:spcPct val="100000"/>
              </a:lnSpc>
              <a:tabLst>
                <a:tab pos="2168525" algn="l"/>
                <a:tab pos="3101340" algn="l"/>
                <a:tab pos="3427095" algn="l"/>
              </a:tabLst>
            </a:pPr>
            <a:r>
              <a:rPr sz="13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Procesos</a:t>
            </a:r>
            <a:r>
              <a:rPr sz="13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	</a:t>
            </a:r>
            <a:r>
              <a:rPr sz="13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complejos</a:t>
            </a:r>
            <a:r>
              <a:rPr sz="1300" spc="-10" dirty="0">
                <a:latin typeface="Arial MT"/>
                <a:cs typeface="Arial MT"/>
              </a:rPr>
              <a:t>,</a:t>
            </a:r>
            <a:r>
              <a:rPr sz="1300" dirty="0">
                <a:latin typeface="Arial MT"/>
                <a:cs typeface="Arial MT"/>
              </a:rPr>
              <a:t>	</a:t>
            </a:r>
            <a:r>
              <a:rPr sz="1300" spc="-25" dirty="0">
                <a:latin typeface="Arial MT"/>
                <a:cs typeface="Arial MT"/>
              </a:rPr>
              <a:t>no</a:t>
            </a:r>
            <a:r>
              <a:rPr sz="1300" dirty="0">
                <a:latin typeface="Arial MT"/>
                <a:cs typeface="Arial MT"/>
              </a:rPr>
              <a:t>	</a:t>
            </a:r>
            <a:r>
              <a:rPr sz="1300" spc="-10" dirty="0">
                <a:latin typeface="Arial MT"/>
                <a:cs typeface="Arial MT"/>
              </a:rPr>
              <a:t>actividades simples.</a:t>
            </a:r>
            <a:endParaRPr sz="1300">
              <a:latin typeface="Arial MT"/>
              <a:cs typeface="Arial MT"/>
            </a:endParaRPr>
          </a:p>
          <a:p>
            <a:pPr marL="1339215" marR="311150">
              <a:lnSpc>
                <a:spcPct val="100000"/>
              </a:lnSpc>
            </a:pPr>
            <a:r>
              <a:rPr sz="1300" dirty="0">
                <a:latin typeface="Arial MT"/>
                <a:cs typeface="Arial MT"/>
              </a:rPr>
              <a:t>Ubicación</a:t>
            </a:r>
            <a:r>
              <a:rPr sz="1300" spc="-25" dirty="0">
                <a:latin typeface="Arial MT"/>
                <a:cs typeface="Arial MT"/>
              </a:rPr>
              <a:t> </a:t>
            </a:r>
            <a:r>
              <a:rPr sz="13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dentro</a:t>
            </a:r>
            <a:r>
              <a:rPr sz="1300" u="sng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</a:t>
            </a:r>
            <a:r>
              <a:rPr sz="13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del</a:t>
            </a:r>
            <a:r>
              <a:rPr sz="1300" u="sng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</a:t>
            </a:r>
            <a:r>
              <a:rPr sz="13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negocio</a:t>
            </a:r>
            <a:r>
              <a:rPr sz="1300" spc="-10" dirty="0">
                <a:latin typeface="Arial MT"/>
                <a:cs typeface="Arial MT"/>
              </a:rPr>
              <a:t>.</a:t>
            </a:r>
            <a:r>
              <a:rPr sz="1300" spc="500" dirty="0">
                <a:latin typeface="Arial MT"/>
                <a:cs typeface="Arial MT"/>
              </a:rPr>
              <a:t> </a:t>
            </a:r>
            <a:r>
              <a:rPr sz="13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Asociarse</a:t>
            </a:r>
            <a:r>
              <a:rPr sz="1300" spc="2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por</a:t>
            </a:r>
            <a:r>
              <a:rPr sz="1300" spc="25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lo</a:t>
            </a:r>
            <a:r>
              <a:rPr sz="1300" spc="26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menos</a:t>
            </a:r>
            <a:r>
              <a:rPr sz="1300" spc="26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con</a:t>
            </a:r>
            <a:r>
              <a:rPr sz="1300" spc="26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un</a:t>
            </a:r>
            <a:r>
              <a:rPr sz="1300" spc="254" dirty="0">
                <a:latin typeface="Arial MT"/>
                <a:cs typeface="Arial MT"/>
              </a:rPr>
              <a:t> </a:t>
            </a:r>
            <a:r>
              <a:rPr sz="1300" spc="-20" dirty="0">
                <a:latin typeface="Arial MT"/>
                <a:cs typeface="Arial MT"/>
              </a:rPr>
              <a:t>Actor </a:t>
            </a:r>
            <a:r>
              <a:rPr sz="1300" spc="-10" dirty="0">
                <a:latin typeface="Arial MT"/>
                <a:cs typeface="Arial MT"/>
              </a:rPr>
              <a:t>Negocio.</a:t>
            </a:r>
            <a:endParaRPr sz="1300">
              <a:latin typeface="Arial MT"/>
              <a:cs typeface="Arial MT"/>
            </a:endParaRPr>
          </a:p>
          <a:p>
            <a:pPr marL="1339215" marR="311150">
              <a:lnSpc>
                <a:spcPct val="100000"/>
              </a:lnSpc>
            </a:pPr>
            <a:r>
              <a:rPr sz="1300" dirty="0">
                <a:latin typeface="Arial MT"/>
                <a:cs typeface="Arial MT"/>
              </a:rPr>
              <a:t>Representar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el</a:t>
            </a:r>
            <a:r>
              <a:rPr sz="1300" spc="2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proceso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de</a:t>
            </a:r>
            <a:r>
              <a:rPr sz="1300" spc="3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una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manera</a:t>
            </a:r>
            <a:r>
              <a:rPr sz="13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general</a:t>
            </a:r>
            <a:r>
              <a:rPr sz="13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y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no</a:t>
            </a:r>
            <a:r>
              <a:rPr sz="1300" spc="-1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particular</a:t>
            </a:r>
            <a:endParaRPr sz="1300">
              <a:latin typeface="Arial MT"/>
              <a:cs typeface="Arial MT"/>
            </a:endParaRPr>
          </a:p>
          <a:p>
            <a:pPr marL="1339215" marR="308610" algn="just">
              <a:lnSpc>
                <a:spcPct val="100000"/>
              </a:lnSpc>
            </a:pPr>
            <a:r>
              <a:rPr sz="1300" dirty="0">
                <a:latin typeface="Arial MT"/>
                <a:cs typeface="Arial MT"/>
              </a:rPr>
              <a:t>La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extensión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de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su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realización</a:t>
            </a:r>
            <a:r>
              <a:rPr sz="1300" spc="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no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spc="-20" dirty="0">
                <a:latin typeface="Arial MT"/>
                <a:cs typeface="Arial MT"/>
              </a:rPr>
              <a:t>debe </a:t>
            </a:r>
            <a:r>
              <a:rPr sz="1300" dirty="0">
                <a:latin typeface="Arial MT"/>
                <a:cs typeface="Arial MT"/>
              </a:rPr>
              <a:t>ser</a:t>
            </a:r>
            <a:r>
              <a:rPr sz="1300" spc="27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ni</a:t>
            </a:r>
            <a:r>
              <a:rPr sz="1300" spc="29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muy</a:t>
            </a:r>
            <a:r>
              <a:rPr sz="1300" spc="28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simple</a:t>
            </a:r>
            <a:r>
              <a:rPr sz="1300" spc="30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</a:t>
            </a:r>
            <a:r>
              <a:rPr sz="1300" spc="27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pequeña</a:t>
            </a:r>
            <a:r>
              <a:rPr sz="1300" spc="29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ni</a:t>
            </a:r>
            <a:r>
              <a:rPr sz="1300" spc="275" dirty="0">
                <a:latin typeface="Arial MT"/>
                <a:cs typeface="Arial MT"/>
              </a:rPr>
              <a:t> </a:t>
            </a:r>
            <a:r>
              <a:rPr sz="1300" spc="-25" dirty="0">
                <a:latin typeface="Arial MT"/>
                <a:cs typeface="Arial MT"/>
              </a:rPr>
              <a:t>muy </a:t>
            </a:r>
            <a:r>
              <a:rPr sz="1300" dirty="0">
                <a:latin typeface="Arial MT"/>
                <a:cs typeface="Arial MT"/>
              </a:rPr>
              <a:t>extensa</a:t>
            </a:r>
            <a:r>
              <a:rPr sz="1300" spc="-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</a:t>
            </a:r>
            <a:r>
              <a:rPr sz="1300" spc="-2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grande.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sz="1300">
              <a:latin typeface="Arial MT"/>
              <a:cs typeface="Arial MT"/>
            </a:endParaRPr>
          </a:p>
          <a:p>
            <a:pPr marL="2540" algn="ctr">
              <a:lnSpc>
                <a:spcPct val="100000"/>
              </a:lnSpc>
            </a:pPr>
            <a:r>
              <a:rPr sz="600" spc="-50" dirty="0">
                <a:solidFill>
                  <a:srgbClr val="035B75"/>
                </a:solidFill>
                <a:latin typeface="Arial MT"/>
                <a:cs typeface="Arial MT"/>
              </a:rPr>
              <a:t>8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88592" y="5791200"/>
            <a:ext cx="3205480" cy="289560"/>
          </a:xfrm>
          <a:prstGeom prst="rect">
            <a:avLst/>
          </a:prstGeom>
          <a:solidFill>
            <a:srgbClr val="009CD8"/>
          </a:solidFill>
        </p:spPr>
        <p:txBody>
          <a:bodyPr vert="horz" wrap="square" lIns="0" tIns="13335" rIns="0" bIns="0" rtlCol="0">
            <a:spAutoFit/>
          </a:bodyPr>
          <a:lstStyle/>
          <a:p>
            <a:pPr marL="1270">
              <a:lnSpc>
                <a:spcPct val="100000"/>
              </a:lnSpc>
              <a:spcBef>
                <a:spcPts val="105"/>
              </a:spcBef>
            </a:pP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Sugerencias</a:t>
            </a:r>
            <a:r>
              <a:rPr sz="15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para</a:t>
            </a:r>
            <a:r>
              <a:rPr sz="15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identificar</a:t>
            </a:r>
            <a:r>
              <a:rPr sz="15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Calibri"/>
                <a:cs typeface="Calibri"/>
              </a:rPr>
              <a:t>CUN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690116" y="6908292"/>
            <a:ext cx="1107948" cy="601979"/>
          </a:xfrm>
          <a:prstGeom prst="rect">
            <a:avLst/>
          </a:prstGeom>
        </p:spPr>
      </p:pic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846326" y="2643378"/>
          <a:ext cx="4188460" cy="980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2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485"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ESTEREOTIPO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DESCRIPCIÓN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6990" marR="2387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Representa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un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rol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que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algo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alguien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externo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desempeña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en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relación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con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el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negocio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03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848611" y="1967483"/>
            <a:ext cx="3639820" cy="289560"/>
          </a:xfrm>
          <a:prstGeom prst="rect">
            <a:avLst/>
          </a:prstGeom>
          <a:solidFill>
            <a:srgbClr val="009CD8"/>
          </a:solidFill>
        </p:spPr>
        <p:txBody>
          <a:bodyPr vert="horz" wrap="square" lIns="0" tIns="12065" rIns="0" bIns="0" rtlCol="0">
            <a:spAutoFit/>
          </a:bodyPr>
          <a:lstStyle/>
          <a:p>
            <a:pPr marL="916940">
              <a:lnSpc>
                <a:spcPct val="100000"/>
              </a:lnSpc>
              <a:spcBef>
                <a:spcPts val="95"/>
              </a:spcBef>
            </a:pP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Actor</a:t>
            </a:r>
            <a:r>
              <a:rPr sz="15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del</a:t>
            </a:r>
            <a:r>
              <a:rPr sz="15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Negocio</a:t>
            </a:r>
            <a:r>
              <a:rPr sz="15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20" dirty="0">
                <a:solidFill>
                  <a:srgbClr val="FFFFFF"/>
                </a:solidFill>
                <a:latin typeface="Calibri"/>
                <a:cs typeface="Calibri"/>
              </a:rPr>
              <a:t>(AN)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8444" y="2932175"/>
            <a:ext cx="609599" cy="51511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600200" y="132588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4572000" h="3429000">
                <a:moveTo>
                  <a:pt x="0" y="3429000"/>
                </a:moveTo>
                <a:lnTo>
                  <a:pt x="4572000" y="3429000"/>
                </a:lnTo>
                <a:lnTo>
                  <a:pt x="4572000" y="0"/>
                </a:lnTo>
                <a:lnTo>
                  <a:pt x="0" y="0"/>
                </a:lnTo>
                <a:lnTo>
                  <a:pt x="0" y="342900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600200" y="5301996"/>
            <a:ext cx="4572000" cy="3429000"/>
            <a:chOff x="1600200" y="5301996"/>
            <a:chExt cx="4572000" cy="3429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1351" y="5467096"/>
              <a:ext cx="622705" cy="1015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22548" y="5301996"/>
              <a:ext cx="767485" cy="17525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5282" y="5479796"/>
              <a:ext cx="1086917" cy="17119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06706" y="5474207"/>
              <a:ext cx="3017337" cy="17678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12701" y="5474207"/>
              <a:ext cx="659526" cy="10718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00200" y="5647944"/>
              <a:ext cx="4572000" cy="308305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00200" y="5302249"/>
              <a:ext cx="4572000" cy="51333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49823" y="5333999"/>
              <a:ext cx="722376" cy="2194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91328" y="5343144"/>
              <a:ext cx="880871" cy="25450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45992" y="5302757"/>
              <a:ext cx="2426208" cy="29946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80616" y="5716523"/>
              <a:ext cx="9143" cy="304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00200" y="5301996"/>
              <a:ext cx="4546092" cy="51053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825751" y="5329428"/>
              <a:ext cx="4346448" cy="40233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787395" y="6303264"/>
              <a:ext cx="27940" cy="29209"/>
            </a:xfrm>
            <a:custGeom>
              <a:avLst/>
              <a:gdLst/>
              <a:ahLst/>
              <a:cxnLst/>
              <a:rect l="l" t="t" r="r" b="b"/>
              <a:pathLst>
                <a:path w="27939" h="29210">
                  <a:moveTo>
                    <a:pt x="16764" y="28956"/>
                  </a:moveTo>
                  <a:lnTo>
                    <a:pt x="9144" y="28956"/>
                  </a:lnTo>
                  <a:lnTo>
                    <a:pt x="6096" y="27432"/>
                  </a:lnTo>
                  <a:lnTo>
                    <a:pt x="3048" y="24384"/>
                  </a:lnTo>
                  <a:lnTo>
                    <a:pt x="0" y="21336"/>
                  </a:lnTo>
                  <a:lnTo>
                    <a:pt x="0" y="6096"/>
                  </a:lnTo>
                  <a:lnTo>
                    <a:pt x="3048" y="4572"/>
                  </a:lnTo>
                  <a:lnTo>
                    <a:pt x="6096" y="1524"/>
                  </a:lnTo>
                  <a:lnTo>
                    <a:pt x="9144" y="0"/>
                  </a:lnTo>
                  <a:lnTo>
                    <a:pt x="16764" y="0"/>
                  </a:lnTo>
                  <a:lnTo>
                    <a:pt x="19812" y="1524"/>
                  </a:lnTo>
                  <a:lnTo>
                    <a:pt x="22860" y="4572"/>
                  </a:lnTo>
                  <a:lnTo>
                    <a:pt x="25908" y="6096"/>
                  </a:lnTo>
                  <a:lnTo>
                    <a:pt x="27432" y="10668"/>
                  </a:lnTo>
                  <a:lnTo>
                    <a:pt x="27432" y="18288"/>
                  </a:lnTo>
                  <a:lnTo>
                    <a:pt x="25908" y="21336"/>
                  </a:lnTo>
                  <a:lnTo>
                    <a:pt x="19812" y="27432"/>
                  </a:lnTo>
                  <a:lnTo>
                    <a:pt x="16764" y="28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87395" y="6440423"/>
              <a:ext cx="27940" cy="29209"/>
            </a:xfrm>
            <a:custGeom>
              <a:avLst/>
              <a:gdLst/>
              <a:ahLst/>
              <a:cxnLst/>
              <a:rect l="l" t="t" r="r" b="b"/>
              <a:pathLst>
                <a:path w="27939" h="29210">
                  <a:moveTo>
                    <a:pt x="16764" y="28956"/>
                  </a:moveTo>
                  <a:lnTo>
                    <a:pt x="9144" y="28956"/>
                  </a:lnTo>
                  <a:lnTo>
                    <a:pt x="6096" y="27432"/>
                  </a:lnTo>
                  <a:lnTo>
                    <a:pt x="3048" y="24384"/>
                  </a:lnTo>
                  <a:lnTo>
                    <a:pt x="0" y="21336"/>
                  </a:lnTo>
                  <a:lnTo>
                    <a:pt x="0" y="6096"/>
                  </a:lnTo>
                  <a:lnTo>
                    <a:pt x="3048" y="4572"/>
                  </a:lnTo>
                  <a:lnTo>
                    <a:pt x="6096" y="1524"/>
                  </a:lnTo>
                  <a:lnTo>
                    <a:pt x="9144" y="0"/>
                  </a:lnTo>
                  <a:lnTo>
                    <a:pt x="16764" y="0"/>
                  </a:lnTo>
                  <a:lnTo>
                    <a:pt x="19812" y="1524"/>
                  </a:lnTo>
                  <a:lnTo>
                    <a:pt x="22860" y="4572"/>
                  </a:lnTo>
                  <a:lnTo>
                    <a:pt x="25908" y="6096"/>
                  </a:lnTo>
                  <a:lnTo>
                    <a:pt x="27432" y="10668"/>
                  </a:lnTo>
                  <a:lnTo>
                    <a:pt x="27432" y="18288"/>
                  </a:lnTo>
                  <a:lnTo>
                    <a:pt x="25908" y="21336"/>
                  </a:lnTo>
                  <a:lnTo>
                    <a:pt x="19812" y="27432"/>
                  </a:lnTo>
                  <a:lnTo>
                    <a:pt x="16764" y="2895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87383" y="6714756"/>
              <a:ext cx="27940" cy="303530"/>
            </a:xfrm>
            <a:custGeom>
              <a:avLst/>
              <a:gdLst/>
              <a:ahLst/>
              <a:cxnLst/>
              <a:rect l="l" t="t" r="r" b="b"/>
              <a:pathLst>
                <a:path w="27939" h="303529">
                  <a:moveTo>
                    <a:pt x="27432" y="284988"/>
                  </a:moveTo>
                  <a:lnTo>
                    <a:pt x="25908" y="281940"/>
                  </a:lnTo>
                  <a:lnTo>
                    <a:pt x="19812" y="275844"/>
                  </a:lnTo>
                  <a:lnTo>
                    <a:pt x="16764" y="274320"/>
                  </a:lnTo>
                  <a:lnTo>
                    <a:pt x="9144" y="274320"/>
                  </a:lnTo>
                  <a:lnTo>
                    <a:pt x="6096" y="275844"/>
                  </a:lnTo>
                  <a:lnTo>
                    <a:pt x="0" y="281940"/>
                  </a:lnTo>
                  <a:lnTo>
                    <a:pt x="0" y="295656"/>
                  </a:lnTo>
                  <a:lnTo>
                    <a:pt x="3048" y="298704"/>
                  </a:lnTo>
                  <a:lnTo>
                    <a:pt x="6096" y="301752"/>
                  </a:lnTo>
                  <a:lnTo>
                    <a:pt x="9144" y="303276"/>
                  </a:lnTo>
                  <a:lnTo>
                    <a:pt x="16764" y="303276"/>
                  </a:lnTo>
                  <a:lnTo>
                    <a:pt x="19812" y="301752"/>
                  </a:lnTo>
                  <a:lnTo>
                    <a:pt x="25908" y="295656"/>
                  </a:lnTo>
                  <a:lnTo>
                    <a:pt x="27432" y="292608"/>
                  </a:lnTo>
                  <a:lnTo>
                    <a:pt x="27432" y="284988"/>
                  </a:lnTo>
                  <a:close/>
                </a:path>
                <a:path w="27939" h="303529">
                  <a:moveTo>
                    <a:pt x="27432" y="10668"/>
                  </a:moveTo>
                  <a:lnTo>
                    <a:pt x="25908" y="7620"/>
                  </a:lnTo>
                  <a:lnTo>
                    <a:pt x="19812" y="1524"/>
                  </a:lnTo>
                  <a:lnTo>
                    <a:pt x="16764" y="0"/>
                  </a:lnTo>
                  <a:lnTo>
                    <a:pt x="9144" y="0"/>
                  </a:lnTo>
                  <a:lnTo>
                    <a:pt x="6096" y="1524"/>
                  </a:lnTo>
                  <a:lnTo>
                    <a:pt x="0" y="7620"/>
                  </a:lnTo>
                  <a:lnTo>
                    <a:pt x="0" y="21336"/>
                  </a:lnTo>
                  <a:lnTo>
                    <a:pt x="3048" y="24384"/>
                  </a:lnTo>
                  <a:lnTo>
                    <a:pt x="6096" y="27432"/>
                  </a:lnTo>
                  <a:lnTo>
                    <a:pt x="9144" y="28956"/>
                  </a:lnTo>
                  <a:lnTo>
                    <a:pt x="16764" y="28956"/>
                  </a:lnTo>
                  <a:lnTo>
                    <a:pt x="19812" y="27432"/>
                  </a:lnTo>
                  <a:lnTo>
                    <a:pt x="25908" y="21336"/>
                  </a:lnTo>
                  <a:lnTo>
                    <a:pt x="27432" y="18288"/>
                  </a:lnTo>
                  <a:lnTo>
                    <a:pt x="27432" y="106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87395" y="7263383"/>
              <a:ext cx="27940" cy="29209"/>
            </a:xfrm>
            <a:custGeom>
              <a:avLst/>
              <a:gdLst/>
              <a:ahLst/>
              <a:cxnLst/>
              <a:rect l="l" t="t" r="r" b="b"/>
              <a:pathLst>
                <a:path w="27939" h="29209">
                  <a:moveTo>
                    <a:pt x="16764" y="28955"/>
                  </a:moveTo>
                  <a:lnTo>
                    <a:pt x="9144" y="28955"/>
                  </a:lnTo>
                  <a:lnTo>
                    <a:pt x="6096" y="27431"/>
                  </a:lnTo>
                  <a:lnTo>
                    <a:pt x="3048" y="24383"/>
                  </a:lnTo>
                  <a:lnTo>
                    <a:pt x="0" y="21335"/>
                  </a:lnTo>
                  <a:lnTo>
                    <a:pt x="0" y="7619"/>
                  </a:lnTo>
                  <a:lnTo>
                    <a:pt x="6096" y="1523"/>
                  </a:lnTo>
                  <a:lnTo>
                    <a:pt x="9144" y="0"/>
                  </a:lnTo>
                  <a:lnTo>
                    <a:pt x="16764" y="0"/>
                  </a:lnTo>
                  <a:lnTo>
                    <a:pt x="19812" y="1523"/>
                  </a:lnTo>
                  <a:lnTo>
                    <a:pt x="25908" y="7619"/>
                  </a:lnTo>
                  <a:lnTo>
                    <a:pt x="27432" y="10667"/>
                  </a:lnTo>
                  <a:lnTo>
                    <a:pt x="27432" y="18287"/>
                  </a:lnTo>
                  <a:lnTo>
                    <a:pt x="25908" y="21335"/>
                  </a:lnTo>
                  <a:lnTo>
                    <a:pt x="19812" y="27431"/>
                  </a:lnTo>
                  <a:lnTo>
                    <a:pt x="16764" y="2895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87395" y="7400544"/>
              <a:ext cx="27940" cy="29209"/>
            </a:xfrm>
            <a:custGeom>
              <a:avLst/>
              <a:gdLst/>
              <a:ahLst/>
              <a:cxnLst/>
              <a:rect l="l" t="t" r="r" b="b"/>
              <a:pathLst>
                <a:path w="27939" h="29209">
                  <a:moveTo>
                    <a:pt x="16764" y="28955"/>
                  </a:moveTo>
                  <a:lnTo>
                    <a:pt x="9144" y="28955"/>
                  </a:lnTo>
                  <a:lnTo>
                    <a:pt x="6096" y="27431"/>
                  </a:lnTo>
                  <a:lnTo>
                    <a:pt x="3048" y="24383"/>
                  </a:lnTo>
                  <a:lnTo>
                    <a:pt x="0" y="21335"/>
                  </a:lnTo>
                  <a:lnTo>
                    <a:pt x="0" y="7619"/>
                  </a:lnTo>
                  <a:lnTo>
                    <a:pt x="6096" y="1523"/>
                  </a:lnTo>
                  <a:lnTo>
                    <a:pt x="9144" y="0"/>
                  </a:lnTo>
                  <a:lnTo>
                    <a:pt x="16764" y="0"/>
                  </a:lnTo>
                  <a:lnTo>
                    <a:pt x="19812" y="1523"/>
                  </a:lnTo>
                  <a:lnTo>
                    <a:pt x="25908" y="7619"/>
                  </a:lnTo>
                  <a:lnTo>
                    <a:pt x="27432" y="10667"/>
                  </a:lnTo>
                  <a:lnTo>
                    <a:pt x="27432" y="18287"/>
                  </a:lnTo>
                  <a:lnTo>
                    <a:pt x="25908" y="21335"/>
                  </a:lnTo>
                  <a:lnTo>
                    <a:pt x="19812" y="27431"/>
                  </a:lnTo>
                  <a:lnTo>
                    <a:pt x="16764" y="289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600200" y="5303520"/>
            <a:ext cx="4572000" cy="3427729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900">
              <a:latin typeface="Times New Roman"/>
              <a:cs typeface="Times New Roman"/>
            </a:endParaRPr>
          </a:p>
          <a:p>
            <a:pPr marL="126746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latin typeface="Arial MT"/>
                <a:cs typeface="Arial MT"/>
              </a:rPr>
              <a:t>Ubicación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fuera</a:t>
            </a:r>
            <a:r>
              <a:rPr sz="9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</a:t>
            </a:r>
            <a:r>
              <a:rPr sz="9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de</a:t>
            </a:r>
            <a:r>
              <a:rPr sz="9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</a:t>
            </a:r>
            <a:r>
              <a:rPr sz="9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las</a:t>
            </a:r>
            <a:r>
              <a:rPr sz="900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</a:t>
            </a:r>
            <a:r>
              <a:rPr sz="9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fronteras</a:t>
            </a:r>
            <a:r>
              <a:rPr sz="900" u="sng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</a:t>
            </a:r>
            <a:r>
              <a:rPr sz="9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del</a:t>
            </a:r>
            <a:r>
              <a:rPr sz="900" u="sng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</a:t>
            </a:r>
            <a:r>
              <a:rPr sz="9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negocio</a:t>
            </a:r>
            <a:r>
              <a:rPr sz="900" spc="-10" dirty="0">
                <a:latin typeface="Arial MT"/>
                <a:cs typeface="Arial MT"/>
              </a:rPr>
              <a:t>.</a:t>
            </a:r>
            <a:endParaRPr sz="900">
              <a:latin typeface="Arial MT"/>
              <a:cs typeface="Arial MT"/>
            </a:endParaRPr>
          </a:p>
          <a:p>
            <a:pPr marL="1267460" marR="270510">
              <a:lnSpc>
                <a:spcPct val="100000"/>
              </a:lnSpc>
            </a:pPr>
            <a:r>
              <a:rPr sz="9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No</a:t>
            </a:r>
            <a:r>
              <a:rPr sz="900" u="sng" spc="8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</a:t>
            </a:r>
            <a:r>
              <a:rPr sz="9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siempre</a:t>
            </a:r>
            <a:r>
              <a:rPr sz="900" u="sng" spc="8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</a:t>
            </a:r>
            <a:r>
              <a:rPr sz="9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se</a:t>
            </a:r>
            <a:r>
              <a:rPr sz="900" u="sng" spc="8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</a:t>
            </a:r>
            <a:r>
              <a:rPr sz="9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identifica</a:t>
            </a:r>
            <a:r>
              <a:rPr sz="900" spc="8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</a:t>
            </a:r>
            <a:r>
              <a:rPr sz="900" spc="8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el</a:t>
            </a:r>
            <a:r>
              <a:rPr sz="900" spc="8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nombre</a:t>
            </a:r>
            <a:r>
              <a:rPr sz="900" spc="8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de</a:t>
            </a:r>
            <a:r>
              <a:rPr sz="900" spc="8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un</a:t>
            </a:r>
            <a:r>
              <a:rPr sz="900" spc="7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cargo</a:t>
            </a:r>
            <a:r>
              <a:rPr sz="900" spc="8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de</a:t>
            </a:r>
            <a:r>
              <a:rPr sz="900" spc="8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la </a:t>
            </a:r>
            <a:r>
              <a:rPr sz="900" spc="-10" dirty="0">
                <a:latin typeface="Arial MT"/>
                <a:cs typeface="Arial MT"/>
              </a:rPr>
              <a:t>Organización</a:t>
            </a:r>
            <a:endParaRPr sz="900">
              <a:latin typeface="Arial MT"/>
              <a:cs typeface="Arial MT"/>
            </a:endParaRPr>
          </a:p>
          <a:p>
            <a:pPr marL="1267460" marR="520065">
              <a:lnSpc>
                <a:spcPct val="100000"/>
              </a:lnSpc>
            </a:pPr>
            <a:r>
              <a:rPr sz="900" dirty="0">
                <a:latin typeface="Arial MT"/>
                <a:cs typeface="Arial MT"/>
              </a:rPr>
              <a:t>Representar</a:t>
            </a:r>
            <a:r>
              <a:rPr sz="900" spc="-5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el nombre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con</a:t>
            </a:r>
            <a:r>
              <a:rPr sz="900" u="sng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</a:t>
            </a:r>
            <a:r>
              <a:rPr sz="9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roles</a:t>
            </a:r>
            <a:r>
              <a:rPr sz="900" u="sng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</a:t>
            </a:r>
            <a:r>
              <a:rPr sz="9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de</a:t>
            </a:r>
            <a:r>
              <a:rPr sz="9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</a:t>
            </a:r>
            <a:r>
              <a:rPr sz="9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ejecución</a:t>
            </a:r>
            <a:r>
              <a:rPr sz="900" dirty="0">
                <a:latin typeface="Arial MT"/>
                <a:cs typeface="Arial MT"/>
              </a:rPr>
              <a:t>,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más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no </a:t>
            </a:r>
            <a:r>
              <a:rPr sz="900" dirty="0">
                <a:latin typeface="Arial MT"/>
                <a:cs typeface="Arial MT"/>
              </a:rPr>
              <a:t>áreas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departamentos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la</a:t>
            </a:r>
            <a:r>
              <a:rPr sz="900" spc="-10" dirty="0">
                <a:latin typeface="Arial MT"/>
                <a:cs typeface="Arial MT"/>
              </a:rPr>
              <a:t> Organización.</a:t>
            </a:r>
            <a:endParaRPr sz="900">
              <a:latin typeface="Arial MT"/>
              <a:cs typeface="Arial MT"/>
            </a:endParaRPr>
          </a:p>
          <a:p>
            <a:pPr marL="1267460" marR="269875">
              <a:lnSpc>
                <a:spcPct val="100000"/>
              </a:lnSpc>
            </a:pPr>
            <a:r>
              <a:rPr sz="900" dirty="0">
                <a:latin typeface="Arial MT"/>
                <a:cs typeface="Arial MT"/>
              </a:rPr>
              <a:t>Son</a:t>
            </a:r>
            <a:r>
              <a:rPr sz="900" spc="170" dirty="0">
                <a:latin typeface="Arial MT"/>
                <a:cs typeface="Arial MT"/>
              </a:rPr>
              <a:t> </a:t>
            </a:r>
            <a:r>
              <a:rPr sz="9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roles</a:t>
            </a:r>
            <a:r>
              <a:rPr sz="900" spc="1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(humanos,</a:t>
            </a:r>
            <a:r>
              <a:rPr sz="900" spc="17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software</a:t>
            </a:r>
            <a:r>
              <a:rPr sz="900" spc="17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</a:t>
            </a:r>
            <a:r>
              <a:rPr sz="900" spc="17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hardware),</a:t>
            </a:r>
            <a:r>
              <a:rPr sz="900" spc="17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no</a:t>
            </a:r>
            <a:r>
              <a:rPr sz="900" spc="17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personas </a:t>
            </a:r>
            <a:r>
              <a:rPr sz="900" dirty="0">
                <a:latin typeface="Arial MT"/>
                <a:cs typeface="Arial MT"/>
              </a:rPr>
              <a:t>con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nombres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propios.</a:t>
            </a:r>
            <a:endParaRPr sz="900">
              <a:latin typeface="Arial MT"/>
              <a:cs typeface="Arial MT"/>
            </a:endParaRPr>
          </a:p>
          <a:p>
            <a:pPr marL="1267460">
              <a:lnSpc>
                <a:spcPct val="100000"/>
              </a:lnSpc>
            </a:pPr>
            <a:r>
              <a:rPr sz="9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Asociarse</a:t>
            </a:r>
            <a:r>
              <a:rPr sz="9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al menos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un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CUN</a:t>
            </a:r>
            <a:endParaRPr sz="900">
              <a:latin typeface="Arial MT"/>
              <a:cs typeface="Arial MT"/>
            </a:endParaRPr>
          </a:p>
          <a:p>
            <a:pPr marL="1267460" marR="270510">
              <a:lnSpc>
                <a:spcPct val="100000"/>
              </a:lnSpc>
            </a:pPr>
            <a:r>
              <a:rPr sz="900" dirty="0">
                <a:latin typeface="Arial MT"/>
                <a:cs typeface="Arial MT"/>
              </a:rPr>
              <a:t>De</a:t>
            </a:r>
            <a:r>
              <a:rPr sz="900" spc="90" dirty="0">
                <a:latin typeface="Arial MT"/>
                <a:cs typeface="Arial MT"/>
              </a:rPr>
              <a:t> </a:t>
            </a:r>
            <a:r>
              <a:rPr sz="9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no</a:t>
            </a:r>
            <a:r>
              <a:rPr sz="900" u="sng" spc="9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</a:t>
            </a:r>
            <a:r>
              <a:rPr sz="9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participar</a:t>
            </a:r>
            <a:r>
              <a:rPr sz="900" spc="9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en</a:t>
            </a:r>
            <a:r>
              <a:rPr sz="900" spc="9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algún</a:t>
            </a:r>
            <a:r>
              <a:rPr sz="900" spc="9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proceso</a:t>
            </a:r>
            <a:r>
              <a:rPr sz="900" spc="9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debe</a:t>
            </a:r>
            <a:r>
              <a:rPr sz="900" spc="9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ser</a:t>
            </a:r>
            <a:r>
              <a:rPr sz="900" spc="10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eliminado</a:t>
            </a:r>
            <a:r>
              <a:rPr sz="900" spc="9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del </a:t>
            </a:r>
            <a:r>
              <a:rPr sz="900" spc="-10" dirty="0">
                <a:latin typeface="Arial MT"/>
                <a:cs typeface="Arial MT"/>
              </a:rPr>
              <a:t>modelo.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900">
              <a:latin typeface="Arial MT"/>
              <a:cs typeface="Arial MT"/>
            </a:endParaRPr>
          </a:p>
          <a:p>
            <a:pPr marL="2540" algn="ctr">
              <a:lnSpc>
                <a:spcPct val="100000"/>
              </a:lnSpc>
            </a:pPr>
            <a:r>
              <a:rPr sz="600" spc="-25" dirty="0">
                <a:solidFill>
                  <a:srgbClr val="035B75"/>
                </a:solidFill>
                <a:latin typeface="Arial MT"/>
                <a:cs typeface="Arial MT"/>
              </a:rPr>
              <a:t>10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88592" y="5791200"/>
            <a:ext cx="3601720" cy="289560"/>
          </a:xfrm>
          <a:prstGeom prst="rect">
            <a:avLst/>
          </a:prstGeom>
          <a:solidFill>
            <a:srgbClr val="009CD8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Sugerencias</a:t>
            </a:r>
            <a:r>
              <a:rPr sz="17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para</a:t>
            </a:r>
            <a:r>
              <a:rPr sz="17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identificar</a:t>
            </a:r>
            <a:r>
              <a:rPr sz="170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25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5167" y="6726935"/>
            <a:ext cx="929640" cy="784860"/>
          </a:xfrm>
          <a:prstGeom prst="rect">
            <a:avLst/>
          </a:prstGeom>
        </p:spPr>
      </p:pic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0200" y="1325880"/>
            <a:ext cx="4572000" cy="3429000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1568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35"/>
              </a:spcBef>
            </a:pPr>
            <a:endParaRPr sz="2500">
              <a:latin typeface="Times New Roman"/>
              <a:cs typeface="Times New Roman"/>
            </a:endParaRPr>
          </a:p>
          <a:p>
            <a:pPr marL="227965">
              <a:lnSpc>
                <a:spcPct val="100000"/>
              </a:lnSpc>
            </a:pPr>
            <a:r>
              <a:rPr sz="2500" spc="-10" dirty="0">
                <a:solidFill>
                  <a:srgbClr val="03607B"/>
                </a:solidFill>
                <a:latin typeface="Calibri"/>
                <a:cs typeface="Calibri"/>
              </a:rPr>
              <a:t>Ejemplo</a:t>
            </a:r>
            <a:endParaRPr sz="2500">
              <a:latin typeface="Calibri"/>
              <a:cs typeface="Calibri"/>
            </a:endParaRPr>
          </a:p>
          <a:p>
            <a:pPr marL="273685">
              <a:lnSpc>
                <a:spcPct val="100000"/>
              </a:lnSpc>
              <a:spcBef>
                <a:spcPts val="475"/>
              </a:spcBef>
            </a:pPr>
            <a:r>
              <a:rPr sz="1200" spc="-10" dirty="0">
                <a:latin typeface="Constantia"/>
                <a:cs typeface="Constantia"/>
              </a:rPr>
              <a:t>Descripción</a:t>
            </a:r>
            <a:r>
              <a:rPr sz="1200" spc="-25" dirty="0">
                <a:latin typeface="Constantia"/>
                <a:cs typeface="Constantia"/>
              </a:rPr>
              <a:t> </a:t>
            </a:r>
            <a:r>
              <a:rPr sz="1200" dirty="0">
                <a:latin typeface="Constantia"/>
                <a:cs typeface="Constantia"/>
              </a:rPr>
              <a:t>del</a:t>
            </a:r>
            <a:r>
              <a:rPr sz="1200" spc="10" dirty="0">
                <a:latin typeface="Constantia"/>
                <a:cs typeface="Constantia"/>
              </a:rPr>
              <a:t> </a:t>
            </a:r>
            <a:r>
              <a:rPr sz="1200" spc="-20" dirty="0">
                <a:latin typeface="Constantia"/>
                <a:cs typeface="Constantia"/>
              </a:rPr>
              <a:t>Caso</a:t>
            </a:r>
            <a:endParaRPr sz="1200">
              <a:latin typeface="Constantia"/>
              <a:cs typeface="Constantia"/>
            </a:endParaRPr>
          </a:p>
          <a:p>
            <a:pPr marL="435609" marR="462915" indent="-161925">
              <a:lnSpc>
                <a:spcPts val="1300"/>
              </a:lnSpc>
              <a:spcBef>
                <a:spcPts val="300"/>
              </a:spcBef>
              <a:buAutoNum type="arabicPeriod"/>
              <a:tabLst>
                <a:tab pos="502284" algn="l"/>
              </a:tabLst>
            </a:pPr>
            <a:r>
              <a:rPr sz="1200" dirty="0">
                <a:latin typeface="Constantia"/>
                <a:cs typeface="Constantia"/>
              </a:rPr>
              <a:t>El </a:t>
            </a:r>
            <a:r>
              <a:rPr sz="1200" spc="-20" dirty="0">
                <a:latin typeface="Constantia"/>
                <a:cs typeface="Constantia"/>
              </a:rPr>
              <a:t>Proveedor</a:t>
            </a:r>
            <a:r>
              <a:rPr sz="1200" spc="-70" dirty="0">
                <a:latin typeface="Constantia"/>
                <a:cs typeface="Constantia"/>
              </a:rPr>
              <a:t> </a:t>
            </a:r>
            <a:r>
              <a:rPr sz="1200" spc="-10" dirty="0">
                <a:latin typeface="Constantia"/>
                <a:cs typeface="Constantia"/>
              </a:rPr>
              <a:t>entrega</a:t>
            </a:r>
            <a:r>
              <a:rPr sz="1200" spc="-20" dirty="0">
                <a:latin typeface="Constantia"/>
                <a:cs typeface="Constantia"/>
              </a:rPr>
              <a:t> </a:t>
            </a:r>
            <a:r>
              <a:rPr sz="1200" dirty="0">
                <a:latin typeface="Constantia"/>
                <a:cs typeface="Constantia"/>
              </a:rPr>
              <a:t>los</a:t>
            </a:r>
            <a:r>
              <a:rPr sz="1200" spc="-30" dirty="0">
                <a:latin typeface="Constantia"/>
                <a:cs typeface="Constantia"/>
              </a:rPr>
              <a:t> </a:t>
            </a:r>
            <a:r>
              <a:rPr sz="1200" spc="-10" dirty="0">
                <a:latin typeface="Constantia"/>
                <a:cs typeface="Constantia"/>
              </a:rPr>
              <a:t>productos</a:t>
            </a:r>
            <a:r>
              <a:rPr sz="1200" spc="-35" dirty="0">
                <a:latin typeface="Constantia"/>
                <a:cs typeface="Constantia"/>
              </a:rPr>
              <a:t> </a:t>
            </a:r>
            <a:r>
              <a:rPr sz="1200" spc="-10" dirty="0">
                <a:latin typeface="Constantia"/>
                <a:cs typeface="Constantia"/>
              </a:rPr>
              <a:t>solicitados</a:t>
            </a:r>
            <a:r>
              <a:rPr sz="1200" spc="-25" dirty="0">
                <a:latin typeface="Constantia"/>
                <a:cs typeface="Constantia"/>
              </a:rPr>
              <a:t> </a:t>
            </a:r>
            <a:r>
              <a:rPr sz="1200" dirty="0">
                <a:latin typeface="Constantia"/>
                <a:cs typeface="Constantia"/>
              </a:rPr>
              <a:t>al</a:t>
            </a:r>
            <a:r>
              <a:rPr sz="1200" spc="-35" dirty="0">
                <a:latin typeface="Constantia"/>
                <a:cs typeface="Constantia"/>
              </a:rPr>
              <a:t> </a:t>
            </a:r>
            <a:r>
              <a:rPr sz="1200" spc="-10" dirty="0">
                <a:latin typeface="Constantia"/>
                <a:cs typeface="Constantia"/>
              </a:rPr>
              <a:t>área</a:t>
            </a:r>
            <a:r>
              <a:rPr sz="1200" spc="-55" dirty="0">
                <a:latin typeface="Constantia"/>
                <a:cs typeface="Constantia"/>
              </a:rPr>
              <a:t> </a:t>
            </a:r>
            <a:r>
              <a:rPr sz="1200" spc="-25" dirty="0">
                <a:latin typeface="Constantia"/>
                <a:cs typeface="Constantia"/>
              </a:rPr>
              <a:t>de 	</a:t>
            </a:r>
            <a:r>
              <a:rPr sz="1200" spc="-10" dirty="0">
                <a:latin typeface="Constantia"/>
                <a:cs typeface="Constantia"/>
              </a:rPr>
              <a:t>almacén,</a:t>
            </a:r>
            <a:endParaRPr sz="1200">
              <a:latin typeface="Constantia"/>
              <a:cs typeface="Constantia"/>
            </a:endParaRPr>
          </a:p>
          <a:p>
            <a:pPr marL="422909" indent="-149225">
              <a:lnSpc>
                <a:spcPct val="100000"/>
              </a:lnSpc>
              <a:spcBef>
                <a:spcPts val="120"/>
              </a:spcBef>
              <a:buAutoNum type="arabicPeriod"/>
              <a:tabLst>
                <a:tab pos="422909" algn="l"/>
              </a:tabLst>
            </a:pPr>
            <a:r>
              <a:rPr sz="1200" dirty="0">
                <a:latin typeface="Constantia"/>
                <a:cs typeface="Constantia"/>
              </a:rPr>
              <a:t>El</a:t>
            </a:r>
            <a:r>
              <a:rPr sz="1200" spc="-45" dirty="0">
                <a:latin typeface="Constantia"/>
                <a:cs typeface="Constantia"/>
              </a:rPr>
              <a:t> </a:t>
            </a:r>
            <a:r>
              <a:rPr sz="1200" spc="-10" dirty="0">
                <a:latin typeface="Constantia"/>
                <a:cs typeface="Constantia"/>
              </a:rPr>
              <a:t>Encargado</a:t>
            </a:r>
            <a:r>
              <a:rPr sz="1200" spc="-65" dirty="0">
                <a:latin typeface="Constantia"/>
                <a:cs typeface="Constantia"/>
              </a:rPr>
              <a:t> </a:t>
            </a:r>
            <a:r>
              <a:rPr sz="1200" dirty="0">
                <a:latin typeface="Constantia"/>
                <a:cs typeface="Constantia"/>
              </a:rPr>
              <a:t>de</a:t>
            </a:r>
            <a:r>
              <a:rPr sz="1200" spc="-70" dirty="0">
                <a:latin typeface="Constantia"/>
                <a:cs typeface="Constantia"/>
              </a:rPr>
              <a:t> </a:t>
            </a:r>
            <a:r>
              <a:rPr sz="1200" spc="-10" dirty="0">
                <a:latin typeface="Constantia"/>
                <a:cs typeface="Constantia"/>
              </a:rPr>
              <a:t>Almacén</a:t>
            </a:r>
            <a:r>
              <a:rPr sz="1200" spc="-40" dirty="0">
                <a:latin typeface="Constantia"/>
                <a:cs typeface="Constantia"/>
              </a:rPr>
              <a:t> </a:t>
            </a:r>
            <a:r>
              <a:rPr sz="1200" dirty="0">
                <a:latin typeface="Constantia"/>
                <a:cs typeface="Constantia"/>
              </a:rPr>
              <a:t>recepciona</a:t>
            </a:r>
            <a:r>
              <a:rPr sz="1200" spc="225" dirty="0">
                <a:latin typeface="Constantia"/>
                <a:cs typeface="Constantia"/>
              </a:rPr>
              <a:t> </a:t>
            </a:r>
            <a:r>
              <a:rPr sz="1200" dirty="0">
                <a:latin typeface="Constantia"/>
                <a:cs typeface="Constantia"/>
              </a:rPr>
              <a:t>los</a:t>
            </a:r>
            <a:r>
              <a:rPr sz="1200" spc="-55" dirty="0">
                <a:latin typeface="Constantia"/>
                <a:cs typeface="Constantia"/>
              </a:rPr>
              <a:t> </a:t>
            </a:r>
            <a:r>
              <a:rPr sz="1200" spc="-10" dirty="0">
                <a:latin typeface="Constantia"/>
                <a:cs typeface="Constantia"/>
              </a:rPr>
              <a:t>productos.</a:t>
            </a:r>
            <a:endParaRPr sz="1200">
              <a:latin typeface="Constantia"/>
              <a:cs typeface="Constantia"/>
            </a:endParaRPr>
          </a:p>
          <a:p>
            <a:pPr marL="411480" marR="328295" indent="-137795">
              <a:lnSpc>
                <a:spcPts val="1300"/>
              </a:lnSpc>
              <a:spcBef>
                <a:spcPts val="305"/>
              </a:spcBef>
              <a:buAutoNum type="arabicPeriod"/>
              <a:tabLst>
                <a:tab pos="411480" algn="l"/>
                <a:tab pos="418465" algn="l"/>
              </a:tabLst>
            </a:pPr>
            <a:r>
              <a:rPr sz="1200" dirty="0">
                <a:latin typeface="Constantia"/>
                <a:cs typeface="Constantia"/>
              </a:rPr>
              <a:t>	El</a:t>
            </a:r>
            <a:r>
              <a:rPr sz="1200" spc="-5" dirty="0">
                <a:latin typeface="Constantia"/>
                <a:cs typeface="Constantia"/>
              </a:rPr>
              <a:t> </a:t>
            </a:r>
            <a:r>
              <a:rPr sz="1200" spc="-10" dirty="0">
                <a:latin typeface="Constantia"/>
                <a:cs typeface="Constantia"/>
              </a:rPr>
              <a:t>Encargado</a:t>
            </a:r>
            <a:r>
              <a:rPr sz="1200" spc="-50" dirty="0">
                <a:latin typeface="Constantia"/>
                <a:cs typeface="Constantia"/>
              </a:rPr>
              <a:t> </a:t>
            </a:r>
            <a:r>
              <a:rPr sz="1200" dirty="0">
                <a:latin typeface="Constantia"/>
                <a:cs typeface="Constantia"/>
              </a:rPr>
              <a:t>de</a:t>
            </a:r>
            <a:r>
              <a:rPr sz="1200" spc="-50" dirty="0">
                <a:latin typeface="Constantia"/>
                <a:cs typeface="Constantia"/>
              </a:rPr>
              <a:t> </a:t>
            </a:r>
            <a:r>
              <a:rPr sz="1200" spc="-10" dirty="0">
                <a:latin typeface="Constantia"/>
                <a:cs typeface="Constantia"/>
              </a:rPr>
              <a:t>Almacén</a:t>
            </a:r>
            <a:r>
              <a:rPr sz="1200" spc="-40" dirty="0">
                <a:latin typeface="Constantia"/>
                <a:cs typeface="Constantia"/>
              </a:rPr>
              <a:t> </a:t>
            </a:r>
            <a:r>
              <a:rPr sz="1200" spc="-10" dirty="0">
                <a:latin typeface="Constantia"/>
                <a:cs typeface="Constantia"/>
              </a:rPr>
              <a:t>verifica</a:t>
            </a:r>
            <a:r>
              <a:rPr sz="1200" spc="-50" dirty="0">
                <a:latin typeface="Constantia"/>
                <a:cs typeface="Constantia"/>
              </a:rPr>
              <a:t> </a:t>
            </a:r>
            <a:r>
              <a:rPr sz="1200" dirty="0">
                <a:latin typeface="Constantia"/>
                <a:cs typeface="Constantia"/>
              </a:rPr>
              <a:t>si</a:t>
            </a:r>
            <a:r>
              <a:rPr sz="1200" spc="5" dirty="0">
                <a:latin typeface="Constantia"/>
                <a:cs typeface="Constantia"/>
              </a:rPr>
              <a:t> </a:t>
            </a:r>
            <a:r>
              <a:rPr sz="1200" dirty="0">
                <a:latin typeface="Constantia"/>
                <a:cs typeface="Constantia"/>
              </a:rPr>
              <a:t>los</a:t>
            </a:r>
            <a:r>
              <a:rPr sz="1200" spc="-45" dirty="0">
                <a:latin typeface="Constantia"/>
                <a:cs typeface="Constantia"/>
              </a:rPr>
              <a:t> </a:t>
            </a:r>
            <a:r>
              <a:rPr sz="1200" spc="-10" dirty="0">
                <a:latin typeface="Constantia"/>
                <a:cs typeface="Constantia"/>
              </a:rPr>
              <a:t>productos</a:t>
            </a:r>
            <a:r>
              <a:rPr sz="1200" spc="-55" dirty="0">
                <a:latin typeface="Constantia"/>
                <a:cs typeface="Constantia"/>
              </a:rPr>
              <a:t> </a:t>
            </a:r>
            <a:r>
              <a:rPr sz="1200" spc="-10" dirty="0">
                <a:latin typeface="Constantia"/>
                <a:cs typeface="Constantia"/>
              </a:rPr>
              <a:t>están</a:t>
            </a:r>
            <a:r>
              <a:rPr sz="1200" spc="-55" dirty="0">
                <a:latin typeface="Constantia"/>
                <a:cs typeface="Constantia"/>
              </a:rPr>
              <a:t> </a:t>
            </a:r>
            <a:r>
              <a:rPr sz="1200" spc="-25" dirty="0">
                <a:latin typeface="Constantia"/>
                <a:cs typeface="Constantia"/>
              </a:rPr>
              <a:t>en </a:t>
            </a:r>
            <a:r>
              <a:rPr sz="1200" dirty="0">
                <a:latin typeface="Constantia"/>
                <a:cs typeface="Constantia"/>
              </a:rPr>
              <a:t>buen</a:t>
            </a:r>
            <a:r>
              <a:rPr sz="1200" spc="-75" dirty="0">
                <a:latin typeface="Constantia"/>
                <a:cs typeface="Constantia"/>
              </a:rPr>
              <a:t> </a:t>
            </a:r>
            <a:r>
              <a:rPr sz="1200" spc="-10" dirty="0">
                <a:latin typeface="Constantia"/>
                <a:cs typeface="Constantia"/>
              </a:rPr>
              <a:t>estado.</a:t>
            </a:r>
            <a:endParaRPr sz="1200">
              <a:latin typeface="Constantia"/>
              <a:cs typeface="Constantia"/>
            </a:endParaRPr>
          </a:p>
          <a:p>
            <a:pPr marL="411480" marR="509905" indent="-137795">
              <a:lnSpc>
                <a:spcPts val="1300"/>
              </a:lnSpc>
              <a:spcBef>
                <a:spcPts val="280"/>
              </a:spcBef>
              <a:buAutoNum type="arabicPeriod"/>
              <a:tabLst>
                <a:tab pos="411480" algn="l"/>
                <a:tab pos="430530" algn="l"/>
              </a:tabLst>
            </a:pPr>
            <a:r>
              <a:rPr sz="1200" dirty="0">
                <a:latin typeface="Constantia"/>
                <a:cs typeface="Constantia"/>
              </a:rPr>
              <a:t>	Si</a:t>
            </a:r>
            <a:r>
              <a:rPr sz="1200" spc="-10" dirty="0">
                <a:latin typeface="Constantia"/>
                <a:cs typeface="Constantia"/>
              </a:rPr>
              <a:t> </a:t>
            </a:r>
            <a:r>
              <a:rPr sz="1200" dirty="0">
                <a:latin typeface="Constantia"/>
                <a:cs typeface="Constantia"/>
              </a:rPr>
              <a:t>los</a:t>
            </a:r>
            <a:r>
              <a:rPr sz="1200" spc="-50" dirty="0">
                <a:latin typeface="Constantia"/>
                <a:cs typeface="Constantia"/>
              </a:rPr>
              <a:t> </a:t>
            </a:r>
            <a:r>
              <a:rPr sz="1200" spc="-10" dirty="0">
                <a:latin typeface="Constantia"/>
                <a:cs typeface="Constantia"/>
              </a:rPr>
              <a:t>productos</a:t>
            </a:r>
            <a:r>
              <a:rPr sz="1200" spc="-45" dirty="0">
                <a:latin typeface="Constantia"/>
                <a:cs typeface="Constantia"/>
              </a:rPr>
              <a:t> </a:t>
            </a:r>
            <a:r>
              <a:rPr sz="1200" spc="-10" dirty="0">
                <a:latin typeface="Constantia"/>
                <a:cs typeface="Constantia"/>
              </a:rPr>
              <a:t>están</a:t>
            </a:r>
            <a:r>
              <a:rPr sz="1200" spc="-40" dirty="0">
                <a:latin typeface="Constantia"/>
                <a:cs typeface="Constantia"/>
              </a:rPr>
              <a:t> </a:t>
            </a:r>
            <a:r>
              <a:rPr sz="1200" dirty="0">
                <a:latin typeface="Constantia"/>
                <a:cs typeface="Constantia"/>
              </a:rPr>
              <a:t>en</a:t>
            </a:r>
            <a:r>
              <a:rPr sz="1200" spc="-25" dirty="0">
                <a:latin typeface="Constantia"/>
                <a:cs typeface="Constantia"/>
              </a:rPr>
              <a:t> </a:t>
            </a:r>
            <a:r>
              <a:rPr sz="1200" dirty="0">
                <a:latin typeface="Constantia"/>
                <a:cs typeface="Constantia"/>
              </a:rPr>
              <a:t>buen</a:t>
            </a:r>
            <a:r>
              <a:rPr sz="1200" spc="-55" dirty="0">
                <a:latin typeface="Constantia"/>
                <a:cs typeface="Constantia"/>
              </a:rPr>
              <a:t> </a:t>
            </a:r>
            <a:r>
              <a:rPr sz="1200" spc="-10" dirty="0">
                <a:latin typeface="Constantia"/>
                <a:cs typeface="Constantia"/>
              </a:rPr>
              <a:t>estado</a:t>
            </a:r>
            <a:r>
              <a:rPr sz="1200" spc="-65" dirty="0">
                <a:latin typeface="Constantia"/>
                <a:cs typeface="Constantia"/>
              </a:rPr>
              <a:t> </a:t>
            </a:r>
            <a:r>
              <a:rPr sz="1200" dirty="0">
                <a:latin typeface="Constantia"/>
                <a:cs typeface="Constantia"/>
              </a:rPr>
              <a:t>el</a:t>
            </a:r>
            <a:r>
              <a:rPr sz="1200" spc="-10" dirty="0">
                <a:latin typeface="Constantia"/>
                <a:cs typeface="Constantia"/>
              </a:rPr>
              <a:t> Encargado</a:t>
            </a:r>
            <a:r>
              <a:rPr sz="1200" spc="-50" dirty="0">
                <a:latin typeface="Constantia"/>
                <a:cs typeface="Constantia"/>
              </a:rPr>
              <a:t> </a:t>
            </a:r>
            <a:r>
              <a:rPr sz="1200" spc="-25" dirty="0">
                <a:latin typeface="Constantia"/>
                <a:cs typeface="Constantia"/>
              </a:rPr>
              <a:t>de </a:t>
            </a:r>
            <a:r>
              <a:rPr sz="1200" spc="-10" dirty="0">
                <a:latin typeface="Constantia"/>
                <a:cs typeface="Constantia"/>
              </a:rPr>
              <a:t>Almacén</a:t>
            </a:r>
            <a:r>
              <a:rPr sz="1200" spc="-40" dirty="0">
                <a:latin typeface="Constantia"/>
                <a:cs typeface="Constantia"/>
              </a:rPr>
              <a:t> </a:t>
            </a:r>
            <a:r>
              <a:rPr sz="1200" spc="-10" dirty="0">
                <a:latin typeface="Constantia"/>
                <a:cs typeface="Constantia"/>
              </a:rPr>
              <a:t>hace</a:t>
            </a:r>
            <a:r>
              <a:rPr sz="1200" spc="-65" dirty="0">
                <a:latin typeface="Constantia"/>
                <a:cs typeface="Constantia"/>
              </a:rPr>
              <a:t> </a:t>
            </a:r>
            <a:r>
              <a:rPr sz="1200" dirty="0">
                <a:latin typeface="Constantia"/>
                <a:cs typeface="Constantia"/>
              </a:rPr>
              <a:t>el</a:t>
            </a:r>
            <a:r>
              <a:rPr sz="1200" spc="-20" dirty="0">
                <a:latin typeface="Constantia"/>
                <a:cs typeface="Constantia"/>
              </a:rPr>
              <a:t> </a:t>
            </a:r>
            <a:r>
              <a:rPr sz="1200" spc="-10" dirty="0">
                <a:latin typeface="Constantia"/>
                <a:cs typeface="Constantia"/>
              </a:rPr>
              <a:t>ingreso</a:t>
            </a:r>
            <a:r>
              <a:rPr sz="1200" spc="-55" dirty="0">
                <a:latin typeface="Constantia"/>
                <a:cs typeface="Constantia"/>
              </a:rPr>
              <a:t> </a:t>
            </a:r>
            <a:r>
              <a:rPr sz="1200" dirty="0">
                <a:latin typeface="Constantia"/>
                <a:cs typeface="Constantia"/>
              </a:rPr>
              <a:t>al</a:t>
            </a:r>
            <a:r>
              <a:rPr sz="1200" spc="-50" dirty="0">
                <a:latin typeface="Constantia"/>
                <a:cs typeface="Constantia"/>
              </a:rPr>
              <a:t> </a:t>
            </a:r>
            <a:r>
              <a:rPr sz="1200" dirty="0">
                <a:latin typeface="Constantia"/>
                <a:cs typeface="Constantia"/>
              </a:rPr>
              <a:t>almacén.</a:t>
            </a:r>
            <a:r>
              <a:rPr sz="1200" spc="-15" dirty="0">
                <a:latin typeface="Constantia"/>
                <a:cs typeface="Constantia"/>
              </a:rPr>
              <a:t> </a:t>
            </a:r>
            <a:r>
              <a:rPr sz="1200" dirty="0">
                <a:latin typeface="Constantia"/>
                <a:cs typeface="Constantia"/>
              </a:rPr>
              <a:t>Si</a:t>
            </a:r>
            <a:r>
              <a:rPr sz="1200" spc="-20" dirty="0">
                <a:latin typeface="Constantia"/>
                <a:cs typeface="Constantia"/>
              </a:rPr>
              <a:t> </a:t>
            </a:r>
            <a:r>
              <a:rPr sz="1200" dirty="0">
                <a:latin typeface="Constantia"/>
                <a:cs typeface="Constantia"/>
              </a:rPr>
              <a:t>los</a:t>
            </a:r>
            <a:r>
              <a:rPr sz="1200" spc="-55" dirty="0">
                <a:latin typeface="Constantia"/>
                <a:cs typeface="Constantia"/>
              </a:rPr>
              <a:t> </a:t>
            </a:r>
            <a:r>
              <a:rPr sz="1200" spc="-10" dirty="0">
                <a:latin typeface="Constantia"/>
                <a:cs typeface="Constantia"/>
              </a:rPr>
              <a:t>productos</a:t>
            </a:r>
            <a:r>
              <a:rPr sz="1200" spc="-35" dirty="0">
                <a:latin typeface="Constantia"/>
                <a:cs typeface="Constantia"/>
              </a:rPr>
              <a:t> </a:t>
            </a:r>
            <a:r>
              <a:rPr sz="1200" spc="-25" dirty="0">
                <a:latin typeface="Constantia"/>
                <a:cs typeface="Constantia"/>
              </a:rPr>
              <a:t>no </a:t>
            </a:r>
            <a:r>
              <a:rPr sz="1200" spc="-10" dirty="0">
                <a:latin typeface="Constantia"/>
                <a:cs typeface="Constantia"/>
              </a:rPr>
              <a:t>estén</a:t>
            </a:r>
            <a:r>
              <a:rPr sz="1200" spc="-45" dirty="0">
                <a:latin typeface="Constantia"/>
                <a:cs typeface="Constantia"/>
              </a:rPr>
              <a:t> </a:t>
            </a:r>
            <a:r>
              <a:rPr sz="1200" dirty="0">
                <a:latin typeface="Constantia"/>
                <a:cs typeface="Constantia"/>
              </a:rPr>
              <a:t>en</a:t>
            </a:r>
            <a:r>
              <a:rPr sz="1200" spc="-20" dirty="0">
                <a:latin typeface="Constantia"/>
                <a:cs typeface="Constantia"/>
              </a:rPr>
              <a:t> </a:t>
            </a:r>
            <a:r>
              <a:rPr sz="1200" dirty="0">
                <a:latin typeface="Constantia"/>
                <a:cs typeface="Constantia"/>
              </a:rPr>
              <a:t>buen</a:t>
            </a:r>
            <a:r>
              <a:rPr sz="1200" spc="-60" dirty="0">
                <a:latin typeface="Constantia"/>
                <a:cs typeface="Constantia"/>
              </a:rPr>
              <a:t> </a:t>
            </a:r>
            <a:r>
              <a:rPr sz="1200" spc="-10" dirty="0">
                <a:latin typeface="Constantia"/>
                <a:cs typeface="Constantia"/>
              </a:rPr>
              <a:t>estado</a:t>
            </a:r>
            <a:r>
              <a:rPr sz="1200" spc="-50" dirty="0">
                <a:latin typeface="Constantia"/>
                <a:cs typeface="Constantia"/>
              </a:rPr>
              <a:t> </a:t>
            </a:r>
            <a:r>
              <a:rPr sz="1200" spc="-10" dirty="0">
                <a:latin typeface="Constantia"/>
                <a:cs typeface="Constantia"/>
              </a:rPr>
              <a:t>serán</a:t>
            </a:r>
            <a:r>
              <a:rPr sz="1200" spc="-35" dirty="0">
                <a:latin typeface="Constantia"/>
                <a:cs typeface="Constantia"/>
              </a:rPr>
              <a:t> </a:t>
            </a:r>
            <a:r>
              <a:rPr sz="1200" spc="-10" dirty="0">
                <a:latin typeface="Constantia"/>
                <a:cs typeface="Constantia"/>
              </a:rPr>
              <a:t>devueltos</a:t>
            </a:r>
            <a:r>
              <a:rPr sz="1200" spc="-55" dirty="0">
                <a:latin typeface="Constantia"/>
                <a:cs typeface="Constantia"/>
              </a:rPr>
              <a:t> </a:t>
            </a:r>
            <a:r>
              <a:rPr sz="1200" dirty="0">
                <a:latin typeface="Constantia"/>
                <a:cs typeface="Constantia"/>
              </a:rPr>
              <a:t>al</a:t>
            </a:r>
            <a:r>
              <a:rPr sz="1200" spc="-15" dirty="0">
                <a:latin typeface="Constantia"/>
                <a:cs typeface="Constantia"/>
              </a:rPr>
              <a:t> </a:t>
            </a:r>
            <a:r>
              <a:rPr sz="1200" spc="-10" dirty="0">
                <a:latin typeface="Constantia"/>
                <a:cs typeface="Constantia"/>
              </a:rPr>
              <a:t>proveedor</a:t>
            </a:r>
            <a:endParaRPr sz="1200">
              <a:latin typeface="Constantia"/>
              <a:cs typeface="Constantia"/>
            </a:endParaRPr>
          </a:p>
          <a:p>
            <a:pPr marL="411480" marR="907415" indent="-137795">
              <a:lnSpc>
                <a:spcPts val="1300"/>
              </a:lnSpc>
              <a:spcBef>
                <a:spcPts val="275"/>
              </a:spcBef>
              <a:buAutoNum type="arabicPeriod"/>
              <a:tabLst>
                <a:tab pos="411480" algn="l"/>
                <a:tab pos="422275" algn="l"/>
              </a:tabLst>
            </a:pPr>
            <a:r>
              <a:rPr sz="1200" dirty="0">
                <a:latin typeface="Constantia"/>
                <a:cs typeface="Constantia"/>
              </a:rPr>
              <a:t>	El</a:t>
            </a:r>
            <a:r>
              <a:rPr sz="1200" spc="-5" dirty="0">
                <a:latin typeface="Constantia"/>
                <a:cs typeface="Constantia"/>
              </a:rPr>
              <a:t> </a:t>
            </a:r>
            <a:r>
              <a:rPr sz="1200" spc="-10" dirty="0">
                <a:latin typeface="Constantia"/>
                <a:cs typeface="Constantia"/>
              </a:rPr>
              <a:t>Encargado</a:t>
            </a:r>
            <a:r>
              <a:rPr sz="1200" spc="-65" dirty="0">
                <a:latin typeface="Constantia"/>
                <a:cs typeface="Constantia"/>
              </a:rPr>
              <a:t> </a:t>
            </a:r>
            <a:r>
              <a:rPr sz="1200" dirty="0">
                <a:latin typeface="Constantia"/>
                <a:cs typeface="Constantia"/>
              </a:rPr>
              <a:t>de</a:t>
            </a:r>
            <a:r>
              <a:rPr sz="1200" spc="-50" dirty="0">
                <a:latin typeface="Constantia"/>
                <a:cs typeface="Constantia"/>
              </a:rPr>
              <a:t> </a:t>
            </a:r>
            <a:r>
              <a:rPr sz="1200" spc="-10" dirty="0">
                <a:latin typeface="Constantia"/>
                <a:cs typeface="Constantia"/>
              </a:rPr>
              <a:t>Almacén</a:t>
            </a:r>
            <a:r>
              <a:rPr sz="1200" spc="-30" dirty="0">
                <a:latin typeface="Constantia"/>
                <a:cs typeface="Constantia"/>
              </a:rPr>
              <a:t> </a:t>
            </a:r>
            <a:r>
              <a:rPr sz="1200" spc="-10" dirty="0">
                <a:latin typeface="Constantia"/>
                <a:cs typeface="Constantia"/>
              </a:rPr>
              <a:t>actualiza</a:t>
            </a:r>
            <a:r>
              <a:rPr sz="1200" spc="-65" dirty="0">
                <a:latin typeface="Constantia"/>
                <a:cs typeface="Constantia"/>
              </a:rPr>
              <a:t> </a:t>
            </a:r>
            <a:r>
              <a:rPr sz="1200" dirty="0">
                <a:latin typeface="Constantia"/>
                <a:cs typeface="Constantia"/>
              </a:rPr>
              <a:t>el</a:t>
            </a:r>
            <a:r>
              <a:rPr sz="1200" spc="-15" dirty="0">
                <a:latin typeface="Constantia"/>
                <a:cs typeface="Constantia"/>
              </a:rPr>
              <a:t> </a:t>
            </a:r>
            <a:r>
              <a:rPr sz="1200" spc="-10" dirty="0">
                <a:latin typeface="Constantia"/>
                <a:cs typeface="Constantia"/>
              </a:rPr>
              <a:t>stock</a:t>
            </a:r>
            <a:r>
              <a:rPr sz="1200" spc="-20" dirty="0">
                <a:latin typeface="Constantia"/>
                <a:cs typeface="Constantia"/>
              </a:rPr>
              <a:t> </a:t>
            </a:r>
            <a:r>
              <a:rPr sz="1200" dirty="0">
                <a:latin typeface="Constantia"/>
                <a:cs typeface="Constantia"/>
              </a:rPr>
              <a:t>de</a:t>
            </a:r>
            <a:r>
              <a:rPr sz="1200" spc="-25" dirty="0">
                <a:latin typeface="Constantia"/>
                <a:cs typeface="Constantia"/>
              </a:rPr>
              <a:t> los </a:t>
            </a:r>
            <a:r>
              <a:rPr sz="1200" spc="-10" dirty="0">
                <a:latin typeface="Constantia"/>
                <a:cs typeface="Constantia"/>
              </a:rPr>
              <a:t>productos.</a:t>
            </a:r>
            <a:endParaRPr sz="12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1200">
              <a:latin typeface="Constantia"/>
              <a:cs typeface="Constantia"/>
            </a:endParaRPr>
          </a:p>
          <a:p>
            <a:pPr marR="219710" algn="r">
              <a:lnSpc>
                <a:spcPct val="100000"/>
              </a:lnSpc>
            </a:pPr>
            <a:r>
              <a:rPr sz="600" spc="-25" dirty="0">
                <a:solidFill>
                  <a:srgbClr val="035B75"/>
                </a:solidFill>
                <a:latin typeface="Arial MT"/>
                <a:cs typeface="Arial MT"/>
              </a:rPr>
              <a:t>11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00200" y="5301996"/>
            <a:ext cx="4572000" cy="3429000"/>
            <a:chOff x="1600200" y="5301996"/>
            <a:chExt cx="4572000" cy="3429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1351" y="5467096"/>
              <a:ext cx="622705" cy="1015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22548" y="5301996"/>
              <a:ext cx="767485" cy="1752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85282" y="5479796"/>
              <a:ext cx="1086917" cy="17119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06706" y="5474207"/>
              <a:ext cx="3017337" cy="17678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12701" y="5474207"/>
              <a:ext cx="659526" cy="10718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00200" y="5647944"/>
              <a:ext cx="4572000" cy="308305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00200" y="5302249"/>
              <a:ext cx="4572000" cy="51333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49823" y="5333999"/>
              <a:ext cx="722376" cy="2194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91328" y="5343144"/>
              <a:ext cx="880871" cy="25450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45992" y="5302757"/>
              <a:ext cx="2426208" cy="29946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80616" y="5716523"/>
              <a:ext cx="9143" cy="304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00200" y="5301996"/>
              <a:ext cx="4546092" cy="51053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25751" y="5329428"/>
              <a:ext cx="4346448" cy="40233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600200" y="5303520"/>
            <a:ext cx="4572000" cy="3427729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1568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35"/>
              </a:spcBef>
            </a:pPr>
            <a:endParaRPr sz="2500">
              <a:latin typeface="Times New Roman"/>
              <a:cs typeface="Times New Roman"/>
            </a:endParaRPr>
          </a:p>
          <a:p>
            <a:pPr marL="227965">
              <a:lnSpc>
                <a:spcPct val="100000"/>
              </a:lnSpc>
            </a:pPr>
            <a:r>
              <a:rPr sz="2500" dirty="0">
                <a:solidFill>
                  <a:srgbClr val="03607B"/>
                </a:solidFill>
                <a:latin typeface="Calibri"/>
                <a:cs typeface="Calibri"/>
              </a:rPr>
              <a:t>Actor</a:t>
            </a:r>
            <a:r>
              <a:rPr sz="2500" spc="-70" dirty="0">
                <a:solidFill>
                  <a:srgbClr val="03607B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03607B"/>
                </a:solidFill>
                <a:latin typeface="Calibri"/>
                <a:cs typeface="Calibri"/>
              </a:rPr>
              <a:t>del</a:t>
            </a:r>
            <a:r>
              <a:rPr sz="2500" spc="-65" dirty="0">
                <a:solidFill>
                  <a:srgbClr val="03607B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03607B"/>
                </a:solidFill>
                <a:latin typeface="Calibri"/>
                <a:cs typeface="Calibri"/>
              </a:rPr>
              <a:t>Negocio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2500">
              <a:latin typeface="Calibri"/>
              <a:cs typeface="Calibri"/>
            </a:endParaRPr>
          </a:p>
          <a:p>
            <a:pPr marR="219710" algn="r">
              <a:lnSpc>
                <a:spcPct val="100000"/>
              </a:lnSpc>
            </a:pPr>
            <a:r>
              <a:rPr sz="600" spc="-25" dirty="0">
                <a:solidFill>
                  <a:srgbClr val="035B75"/>
                </a:solidFill>
                <a:latin typeface="Arial MT"/>
                <a:cs typeface="Arial MT"/>
              </a:rPr>
              <a:t>12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148583" y="6815328"/>
            <a:ext cx="1229995" cy="1165860"/>
            <a:chOff x="3148583" y="6815328"/>
            <a:chExt cx="1229995" cy="1165860"/>
          </a:xfrm>
        </p:grpSpPr>
        <p:sp>
          <p:nvSpPr>
            <p:cNvPr id="19" name="object 19"/>
            <p:cNvSpPr/>
            <p:nvPr/>
          </p:nvSpPr>
          <p:spPr>
            <a:xfrm>
              <a:off x="3813048" y="7030212"/>
              <a:ext cx="1905" cy="239395"/>
            </a:xfrm>
            <a:custGeom>
              <a:avLst/>
              <a:gdLst/>
              <a:ahLst/>
              <a:cxnLst/>
              <a:rect l="l" t="t" r="r" b="b"/>
              <a:pathLst>
                <a:path w="1904" h="239395">
                  <a:moveTo>
                    <a:pt x="1524" y="239267"/>
                  </a:moveTo>
                  <a:lnTo>
                    <a:pt x="0" y="239267"/>
                  </a:lnTo>
                  <a:lnTo>
                    <a:pt x="0" y="0"/>
                  </a:lnTo>
                  <a:lnTo>
                    <a:pt x="1524" y="0"/>
                  </a:lnTo>
                  <a:lnTo>
                    <a:pt x="1524" y="239267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424427" y="7112507"/>
              <a:ext cx="693420" cy="3175"/>
            </a:xfrm>
            <a:custGeom>
              <a:avLst/>
              <a:gdLst/>
              <a:ahLst/>
              <a:cxnLst/>
              <a:rect l="l" t="t" r="r" b="b"/>
              <a:pathLst>
                <a:path w="693420" h="3175">
                  <a:moveTo>
                    <a:pt x="693420" y="3048"/>
                  </a:moveTo>
                  <a:lnTo>
                    <a:pt x="0" y="3048"/>
                  </a:lnTo>
                  <a:lnTo>
                    <a:pt x="0" y="0"/>
                  </a:lnTo>
                  <a:lnTo>
                    <a:pt x="693420" y="0"/>
                  </a:lnTo>
                  <a:lnTo>
                    <a:pt x="693420" y="3048"/>
                  </a:lnTo>
                  <a:close/>
                </a:path>
              </a:pathLst>
            </a:custGeom>
            <a:solidFill>
              <a:srgbClr val="9900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44467" y="6877812"/>
              <a:ext cx="166370" cy="149860"/>
            </a:xfrm>
            <a:custGeom>
              <a:avLst/>
              <a:gdLst/>
              <a:ahLst/>
              <a:cxnLst/>
              <a:rect l="l" t="t" r="r" b="b"/>
              <a:pathLst>
                <a:path w="166370" h="149859">
                  <a:moveTo>
                    <a:pt x="0" y="149351"/>
                  </a:moveTo>
                  <a:lnTo>
                    <a:pt x="152400" y="0"/>
                  </a:lnTo>
                  <a:lnTo>
                    <a:pt x="166116" y="9143"/>
                  </a:lnTo>
                  <a:lnTo>
                    <a:pt x="0" y="1493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68255" y="6835139"/>
              <a:ext cx="289560" cy="226060"/>
            </a:xfrm>
            <a:custGeom>
              <a:avLst/>
              <a:gdLst/>
              <a:ahLst/>
              <a:cxnLst/>
              <a:rect l="l" t="t" r="r" b="b"/>
              <a:pathLst>
                <a:path w="289560" h="226059">
                  <a:moveTo>
                    <a:pt x="289560" y="91440"/>
                  </a:moveTo>
                  <a:lnTo>
                    <a:pt x="280416" y="68580"/>
                  </a:lnTo>
                  <a:lnTo>
                    <a:pt x="280416" y="67056"/>
                  </a:lnTo>
                  <a:lnTo>
                    <a:pt x="268224" y="48768"/>
                  </a:lnTo>
                  <a:lnTo>
                    <a:pt x="251460" y="32004"/>
                  </a:lnTo>
                  <a:lnTo>
                    <a:pt x="230124" y="18288"/>
                  </a:lnTo>
                  <a:lnTo>
                    <a:pt x="204216" y="6096"/>
                  </a:lnTo>
                  <a:lnTo>
                    <a:pt x="181356" y="1524"/>
                  </a:lnTo>
                  <a:lnTo>
                    <a:pt x="173736" y="0"/>
                  </a:lnTo>
                  <a:lnTo>
                    <a:pt x="118872" y="0"/>
                  </a:lnTo>
                  <a:lnTo>
                    <a:pt x="89916" y="6096"/>
                  </a:lnTo>
                  <a:lnTo>
                    <a:pt x="64008" y="18288"/>
                  </a:lnTo>
                  <a:lnTo>
                    <a:pt x="42672" y="32004"/>
                  </a:lnTo>
                  <a:lnTo>
                    <a:pt x="25908" y="48768"/>
                  </a:lnTo>
                  <a:lnTo>
                    <a:pt x="12192" y="67056"/>
                  </a:lnTo>
                  <a:lnTo>
                    <a:pt x="12192" y="68580"/>
                  </a:lnTo>
                  <a:lnTo>
                    <a:pt x="4572" y="91440"/>
                  </a:lnTo>
                  <a:lnTo>
                    <a:pt x="0" y="114300"/>
                  </a:lnTo>
                  <a:lnTo>
                    <a:pt x="4572" y="134112"/>
                  </a:lnTo>
                  <a:lnTo>
                    <a:pt x="12192" y="153924"/>
                  </a:lnTo>
                  <a:lnTo>
                    <a:pt x="42672" y="188976"/>
                  </a:lnTo>
                  <a:lnTo>
                    <a:pt x="89916" y="214884"/>
                  </a:lnTo>
                  <a:lnTo>
                    <a:pt x="144780" y="225552"/>
                  </a:lnTo>
                  <a:lnTo>
                    <a:pt x="173736" y="222504"/>
                  </a:lnTo>
                  <a:lnTo>
                    <a:pt x="230124" y="205740"/>
                  </a:lnTo>
                  <a:lnTo>
                    <a:pt x="268224" y="173736"/>
                  </a:lnTo>
                  <a:lnTo>
                    <a:pt x="289560" y="134112"/>
                  </a:lnTo>
                  <a:lnTo>
                    <a:pt x="289560" y="9144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558539" y="7245096"/>
              <a:ext cx="424180" cy="294640"/>
            </a:xfrm>
            <a:custGeom>
              <a:avLst/>
              <a:gdLst/>
              <a:ahLst/>
              <a:cxnLst/>
              <a:rect l="l" t="t" r="r" b="b"/>
              <a:pathLst>
                <a:path w="424179" h="294640">
                  <a:moveTo>
                    <a:pt x="1524" y="294131"/>
                  </a:moveTo>
                  <a:lnTo>
                    <a:pt x="0" y="292607"/>
                  </a:lnTo>
                  <a:lnTo>
                    <a:pt x="211836" y="1524"/>
                  </a:lnTo>
                  <a:lnTo>
                    <a:pt x="211836" y="0"/>
                  </a:lnTo>
                  <a:lnTo>
                    <a:pt x="213360" y="1524"/>
                  </a:lnTo>
                  <a:lnTo>
                    <a:pt x="214461" y="3048"/>
                  </a:lnTo>
                  <a:lnTo>
                    <a:pt x="211836" y="3048"/>
                  </a:lnTo>
                  <a:lnTo>
                    <a:pt x="1524" y="294131"/>
                  </a:lnTo>
                  <a:close/>
                </a:path>
                <a:path w="424179" h="294640">
                  <a:moveTo>
                    <a:pt x="423672" y="294131"/>
                  </a:moveTo>
                  <a:lnTo>
                    <a:pt x="211836" y="3048"/>
                  </a:lnTo>
                  <a:lnTo>
                    <a:pt x="214461" y="3048"/>
                  </a:lnTo>
                  <a:lnTo>
                    <a:pt x="423672" y="292607"/>
                  </a:lnTo>
                  <a:lnTo>
                    <a:pt x="423672" y="294131"/>
                  </a:lnTo>
                  <a:close/>
                </a:path>
              </a:pathLst>
            </a:custGeom>
            <a:solidFill>
              <a:srgbClr val="9900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604259" y="7267955"/>
              <a:ext cx="421005" cy="291465"/>
            </a:xfrm>
            <a:custGeom>
              <a:avLst/>
              <a:gdLst/>
              <a:ahLst/>
              <a:cxnLst/>
              <a:rect l="l" t="t" r="r" b="b"/>
              <a:pathLst>
                <a:path w="421004" h="291465">
                  <a:moveTo>
                    <a:pt x="1524" y="291083"/>
                  </a:moveTo>
                  <a:lnTo>
                    <a:pt x="0" y="289559"/>
                  </a:lnTo>
                  <a:lnTo>
                    <a:pt x="208788" y="0"/>
                  </a:lnTo>
                  <a:lnTo>
                    <a:pt x="210312" y="0"/>
                  </a:lnTo>
                  <a:lnTo>
                    <a:pt x="212525" y="3047"/>
                  </a:lnTo>
                  <a:lnTo>
                    <a:pt x="208788" y="3047"/>
                  </a:lnTo>
                  <a:lnTo>
                    <a:pt x="1524" y="291083"/>
                  </a:lnTo>
                  <a:close/>
                </a:path>
                <a:path w="421004" h="291465">
                  <a:moveTo>
                    <a:pt x="420624" y="291083"/>
                  </a:moveTo>
                  <a:lnTo>
                    <a:pt x="208788" y="3047"/>
                  </a:lnTo>
                  <a:lnTo>
                    <a:pt x="212525" y="3047"/>
                  </a:lnTo>
                  <a:lnTo>
                    <a:pt x="420624" y="289559"/>
                  </a:lnTo>
                  <a:lnTo>
                    <a:pt x="420624" y="291083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768851" y="7007352"/>
              <a:ext cx="3175" cy="239395"/>
            </a:xfrm>
            <a:custGeom>
              <a:avLst/>
              <a:gdLst/>
              <a:ahLst/>
              <a:cxnLst/>
              <a:rect l="l" t="t" r="r" b="b"/>
              <a:pathLst>
                <a:path w="3175" h="239395">
                  <a:moveTo>
                    <a:pt x="3048" y="239267"/>
                  </a:moveTo>
                  <a:lnTo>
                    <a:pt x="0" y="239267"/>
                  </a:lnTo>
                  <a:lnTo>
                    <a:pt x="0" y="0"/>
                  </a:lnTo>
                  <a:lnTo>
                    <a:pt x="3048" y="0"/>
                  </a:lnTo>
                  <a:lnTo>
                    <a:pt x="3048" y="239267"/>
                  </a:lnTo>
                  <a:close/>
                </a:path>
              </a:pathLst>
            </a:custGeom>
            <a:solidFill>
              <a:srgbClr val="9900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622548" y="6816852"/>
              <a:ext cx="292735" cy="219710"/>
            </a:xfrm>
            <a:custGeom>
              <a:avLst/>
              <a:gdLst/>
              <a:ahLst/>
              <a:cxnLst/>
              <a:rect l="l" t="t" r="r" b="b"/>
              <a:pathLst>
                <a:path w="292735" h="219709">
                  <a:moveTo>
                    <a:pt x="147827" y="219455"/>
                  </a:moveTo>
                  <a:lnTo>
                    <a:pt x="92963" y="210311"/>
                  </a:lnTo>
                  <a:lnTo>
                    <a:pt x="47243" y="187451"/>
                  </a:lnTo>
                  <a:lnTo>
                    <a:pt x="12191" y="152399"/>
                  </a:lnTo>
                  <a:lnTo>
                    <a:pt x="0" y="109727"/>
                  </a:lnTo>
                  <a:lnTo>
                    <a:pt x="4571" y="86867"/>
                  </a:lnTo>
                  <a:lnTo>
                    <a:pt x="28955" y="45719"/>
                  </a:lnTo>
                  <a:lnTo>
                    <a:pt x="68579" y="15239"/>
                  </a:lnTo>
                  <a:lnTo>
                    <a:pt x="121919" y="0"/>
                  </a:lnTo>
                  <a:lnTo>
                    <a:pt x="178307" y="0"/>
                  </a:lnTo>
                  <a:lnTo>
                    <a:pt x="233171" y="15239"/>
                  </a:lnTo>
                  <a:lnTo>
                    <a:pt x="271271" y="45719"/>
                  </a:lnTo>
                  <a:lnTo>
                    <a:pt x="292607" y="86867"/>
                  </a:lnTo>
                  <a:lnTo>
                    <a:pt x="292607" y="109727"/>
                  </a:lnTo>
                  <a:lnTo>
                    <a:pt x="292607" y="129539"/>
                  </a:lnTo>
                  <a:lnTo>
                    <a:pt x="271271" y="170687"/>
                  </a:lnTo>
                  <a:lnTo>
                    <a:pt x="233171" y="199643"/>
                  </a:lnTo>
                  <a:lnTo>
                    <a:pt x="178307" y="216407"/>
                  </a:lnTo>
                  <a:lnTo>
                    <a:pt x="147827" y="219455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622548" y="6815328"/>
              <a:ext cx="292735" cy="222885"/>
            </a:xfrm>
            <a:custGeom>
              <a:avLst/>
              <a:gdLst/>
              <a:ahLst/>
              <a:cxnLst/>
              <a:rect l="l" t="t" r="r" b="b"/>
              <a:pathLst>
                <a:path w="292735" h="222884">
                  <a:moveTo>
                    <a:pt x="147827" y="222504"/>
                  </a:moveTo>
                  <a:lnTo>
                    <a:pt x="92964" y="211836"/>
                  </a:lnTo>
                  <a:lnTo>
                    <a:pt x="45719" y="190500"/>
                  </a:lnTo>
                  <a:lnTo>
                    <a:pt x="12191" y="153924"/>
                  </a:lnTo>
                  <a:lnTo>
                    <a:pt x="0" y="111252"/>
                  </a:lnTo>
                  <a:lnTo>
                    <a:pt x="3047" y="88392"/>
                  </a:lnTo>
                  <a:lnTo>
                    <a:pt x="28955" y="45720"/>
                  </a:lnTo>
                  <a:lnTo>
                    <a:pt x="67055" y="15240"/>
                  </a:lnTo>
                  <a:lnTo>
                    <a:pt x="121919" y="0"/>
                  </a:lnTo>
                  <a:lnTo>
                    <a:pt x="178307" y="0"/>
                  </a:lnTo>
                  <a:lnTo>
                    <a:pt x="192785" y="3048"/>
                  </a:lnTo>
                  <a:lnTo>
                    <a:pt x="121919" y="3048"/>
                  </a:lnTo>
                  <a:lnTo>
                    <a:pt x="92964" y="9144"/>
                  </a:lnTo>
                  <a:lnTo>
                    <a:pt x="47243" y="32004"/>
                  </a:lnTo>
                  <a:lnTo>
                    <a:pt x="13715" y="67056"/>
                  </a:lnTo>
                  <a:lnTo>
                    <a:pt x="1524" y="111252"/>
                  </a:lnTo>
                  <a:lnTo>
                    <a:pt x="6095" y="129540"/>
                  </a:lnTo>
                  <a:lnTo>
                    <a:pt x="30479" y="172212"/>
                  </a:lnTo>
                  <a:lnTo>
                    <a:pt x="68579" y="201168"/>
                  </a:lnTo>
                  <a:lnTo>
                    <a:pt x="123443" y="216408"/>
                  </a:lnTo>
                  <a:lnTo>
                    <a:pt x="147827" y="219456"/>
                  </a:lnTo>
                  <a:lnTo>
                    <a:pt x="178307" y="219456"/>
                  </a:lnTo>
                  <a:lnTo>
                    <a:pt x="147827" y="222504"/>
                  </a:lnTo>
                  <a:close/>
                </a:path>
                <a:path w="292735" h="222884">
                  <a:moveTo>
                    <a:pt x="178307" y="219456"/>
                  </a:moveTo>
                  <a:lnTo>
                    <a:pt x="147827" y="219456"/>
                  </a:lnTo>
                  <a:lnTo>
                    <a:pt x="176783" y="216408"/>
                  </a:lnTo>
                  <a:lnTo>
                    <a:pt x="207263" y="210312"/>
                  </a:lnTo>
                  <a:lnTo>
                    <a:pt x="252983" y="187452"/>
                  </a:lnTo>
                  <a:lnTo>
                    <a:pt x="283463" y="152400"/>
                  </a:lnTo>
                  <a:lnTo>
                    <a:pt x="291083" y="129540"/>
                  </a:lnTo>
                  <a:lnTo>
                    <a:pt x="291083" y="88392"/>
                  </a:lnTo>
                  <a:lnTo>
                    <a:pt x="269747" y="47244"/>
                  </a:lnTo>
                  <a:lnTo>
                    <a:pt x="233171" y="18288"/>
                  </a:lnTo>
                  <a:lnTo>
                    <a:pt x="178307" y="3048"/>
                  </a:lnTo>
                  <a:lnTo>
                    <a:pt x="192785" y="3048"/>
                  </a:lnTo>
                  <a:lnTo>
                    <a:pt x="233171" y="15240"/>
                  </a:lnTo>
                  <a:lnTo>
                    <a:pt x="271271" y="45720"/>
                  </a:lnTo>
                  <a:lnTo>
                    <a:pt x="292607" y="88392"/>
                  </a:lnTo>
                  <a:lnTo>
                    <a:pt x="292607" y="131064"/>
                  </a:lnTo>
                  <a:lnTo>
                    <a:pt x="271271" y="173736"/>
                  </a:lnTo>
                  <a:lnTo>
                    <a:pt x="233171" y="202692"/>
                  </a:lnTo>
                  <a:lnTo>
                    <a:pt x="207263" y="211836"/>
                  </a:lnTo>
                  <a:lnTo>
                    <a:pt x="178307" y="219456"/>
                  </a:lnTo>
                  <a:close/>
                </a:path>
              </a:pathLst>
            </a:custGeom>
            <a:solidFill>
              <a:srgbClr val="9900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68267" y="6844283"/>
              <a:ext cx="242316" cy="18288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470148" y="7632191"/>
              <a:ext cx="609600" cy="130175"/>
            </a:xfrm>
            <a:custGeom>
              <a:avLst/>
              <a:gdLst/>
              <a:ahLst/>
              <a:cxnLst/>
              <a:rect l="l" t="t" r="r" b="b"/>
              <a:pathLst>
                <a:path w="609600" h="130175">
                  <a:moveTo>
                    <a:pt x="73152" y="24384"/>
                  </a:moveTo>
                  <a:lnTo>
                    <a:pt x="71628" y="19812"/>
                  </a:lnTo>
                  <a:lnTo>
                    <a:pt x="69342" y="15240"/>
                  </a:lnTo>
                  <a:lnTo>
                    <a:pt x="67056" y="10668"/>
                  </a:lnTo>
                  <a:lnTo>
                    <a:pt x="62484" y="7620"/>
                  </a:lnTo>
                  <a:lnTo>
                    <a:pt x="59436" y="4572"/>
                  </a:lnTo>
                  <a:lnTo>
                    <a:pt x="59436" y="27432"/>
                  </a:lnTo>
                  <a:lnTo>
                    <a:pt x="59436" y="44196"/>
                  </a:lnTo>
                  <a:lnTo>
                    <a:pt x="57912" y="50292"/>
                  </a:lnTo>
                  <a:lnTo>
                    <a:pt x="51816" y="59436"/>
                  </a:lnTo>
                  <a:lnTo>
                    <a:pt x="45720" y="60960"/>
                  </a:lnTo>
                  <a:lnTo>
                    <a:pt x="13716" y="60960"/>
                  </a:lnTo>
                  <a:lnTo>
                    <a:pt x="13716" y="15240"/>
                  </a:lnTo>
                  <a:lnTo>
                    <a:pt x="47244" y="15240"/>
                  </a:lnTo>
                  <a:lnTo>
                    <a:pt x="48768" y="16764"/>
                  </a:lnTo>
                  <a:lnTo>
                    <a:pt x="53340" y="16764"/>
                  </a:lnTo>
                  <a:lnTo>
                    <a:pt x="54864" y="19812"/>
                  </a:lnTo>
                  <a:lnTo>
                    <a:pt x="56388" y="24384"/>
                  </a:lnTo>
                  <a:lnTo>
                    <a:pt x="59436" y="27432"/>
                  </a:lnTo>
                  <a:lnTo>
                    <a:pt x="59436" y="4572"/>
                  </a:lnTo>
                  <a:lnTo>
                    <a:pt x="56388" y="1524"/>
                  </a:lnTo>
                  <a:lnTo>
                    <a:pt x="51816" y="1524"/>
                  </a:lnTo>
                  <a:lnTo>
                    <a:pt x="47244" y="0"/>
                  </a:lnTo>
                  <a:lnTo>
                    <a:pt x="0" y="0"/>
                  </a:lnTo>
                  <a:lnTo>
                    <a:pt x="0" y="128016"/>
                  </a:lnTo>
                  <a:lnTo>
                    <a:pt x="13716" y="128016"/>
                  </a:lnTo>
                  <a:lnTo>
                    <a:pt x="13716" y="76200"/>
                  </a:lnTo>
                  <a:lnTo>
                    <a:pt x="38100" y="76200"/>
                  </a:lnTo>
                  <a:lnTo>
                    <a:pt x="67437" y="60960"/>
                  </a:lnTo>
                  <a:lnTo>
                    <a:pt x="69291" y="58013"/>
                  </a:lnTo>
                  <a:lnTo>
                    <a:pt x="71628" y="51435"/>
                  </a:lnTo>
                  <a:lnTo>
                    <a:pt x="72821" y="44196"/>
                  </a:lnTo>
                  <a:lnTo>
                    <a:pt x="73152" y="36576"/>
                  </a:lnTo>
                  <a:lnTo>
                    <a:pt x="73152" y="24384"/>
                  </a:lnTo>
                  <a:close/>
                </a:path>
                <a:path w="609600" h="130175">
                  <a:moveTo>
                    <a:pt x="123444" y="38100"/>
                  </a:moveTo>
                  <a:lnTo>
                    <a:pt x="120396" y="35052"/>
                  </a:lnTo>
                  <a:lnTo>
                    <a:pt x="115824" y="33528"/>
                  </a:lnTo>
                  <a:lnTo>
                    <a:pt x="109728" y="33528"/>
                  </a:lnTo>
                  <a:lnTo>
                    <a:pt x="106680" y="35052"/>
                  </a:lnTo>
                  <a:lnTo>
                    <a:pt x="105156" y="36576"/>
                  </a:lnTo>
                  <a:lnTo>
                    <a:pt x="102108" y="38100"/>
                  </a:lnTo>
                  <a:lnTo>
                    <a:pt x="100584" y="42672"/>
                  </a:lnTo>
                  <a:lnTo>
                    <a:pt x="97536" y="48768"/>
                  </a:lnTo>
                  <a:lnTo>
                    <a:pt x="97536" y="35052"/>
                  </a:lnTo>
                  <a:lnTo>
                    <a:pt x="86868" y="35052"/>
                  </a:lnTo>
                  <a:lnTo>
                    <a:pt x="86868" y="128016"/>
                  </a:lnTo>
                  <a:lnTo>
                    <a:pt x="99060" y="128016"/>
                  </a:lnTo>
                  <a:lnTo>
                    <a:pt x="99060" y="71628"/>
                  </a:lnTo>
                  <a:lnTo>
                    <a:pt x="100584" y="65532"/>
                  </a:lnTo>
                  <a:lnTo>
                    <a:pt x="100584" y="60960"/>
                  </a:lnTo>
                  <a:lnTo>
                    <a:pt x="102108" y="56388"/>
                  </a:lnTo>
                  <a:lnTo>
                    <a:pt x="103632" y="53340"/>
                  </a:lnTo>
                  <a:lnTo>
                    <a:pt x="106680" y="50292"/>
                  </a:lnTo>
                  <a:lnTo>
                    <a:pt x="109728" y="48768"/>
                  </a:lnTo>
                  <a:lnTo>
                    <a:pt x="114300" y="48768"/>
                  </a:lnTo>
                  <a:lnTo>
                    <a:pt x="120396" y="51816"/>
                  </a:lnTo>
                  <a:lnTo>
                    <a:pt x="123444" y="38100"/>
                  </a:lnTo>
                  <a:close/>
                </a:path>
                <a:path w="609600" h="130175">
                  <a:moveTo>
                    <a:pt x="192024" y="80772"/>
                  </a:moveTo>
                  <a:lnTo>
                    <a:pt x="191452" y="69938"/>
                  </a:lnTo>
                  <a:lnTo>
                    <a:pt x="189738" y="60388"/>
                  </a:lnTo>
                  <a:lnTo>
                    <a:pt x="186880" y="52273"/>
                  </a:lnTo>
                  <a:lnTo>
                    <a:pt x="184734" y="48768"/>
                  </a:lnTo>
                  <a:lnTo>
                    <a:pt x="182880" y="45720"/>
                  </a:lnTo>
                  <a:lnTo>
                    <a:pt x="179793" y="40576"/>
                  </a:lnTo>
                  <a:lnTo>
                    <a:pt x="179793" y="69938"/>
                  </a:lnTo>
                  <a:lnTo>
                    <a:pt x="179692" y="92278"/>
                  </a:lnTo>
                  <a:lnTo>
                    <a:pt x="178308" y="100584"/>
                  </a:lnTo>
                  <a:lnTo>
                    <a:pt x="175260" y="105156"/>
                  </a:lnTo>
                  <a:lnTo>
                    <a:pt x="170688" y="111252"/>
                  </a:lnTo>
                  <a:lnTo>
                    <a:pt x="166116" y="114300"/>
                  </a:lnTo>
                  <a:lnTo>
                    <a:pt x="155448" y="114300"/>
                  </a:lnTo>
                  <a:lnTo>
                    <a:pt x="141732" y="80772"/>
                  </a:lnTo>
                  <a:lnTo>
                    <a:pt x="141757" y="69938"/>
                  </a:lnTo>
                  <a:lnTo>
                    <a:pt x="143256" y="62484"/>
                  </a:lnTo>
                  <a:lnTo>
                    <a:pt x="147828" y="56388"/>
                  </a:lnTo>
                  <a:lnTo>
                    <a:pt x="150876" y="51816"/>
                  </a:lnTo>
                  <a:lnTo>
                    <a:pt x="155448" y="48768"/>
                  </a:lnTo>
                  <a:lnTo>
                    <a:pt x="166116" y="48768"/>
                  </a:lnTo>
                  <a:lnTo>
                    <a:pt x="170688" y="51816"/>
                  </a:lnTo>
                  <a:lnTo>
                    <a:pt x="175260" y="56388"/>
                  </a:lnTo>
                  <a:lnTo>
                    <a:pt x="178308" y="62484"/>
                  </a:lnTo>
                  <a:lnTo>
                    <a:pt x="179793" y="69938"/>
                  </a:lnTo>
                  <a:lnTo>
                    <a:pt x="179793" y="40576"/>
                  </a:lnTo>
                  <a:lnTo>
                    <a:pt x="178308" y="38100"/>
                  </a:lnTo>
                  <a:lnTo>
                    <a:pt x="170688" y="33528"/>
                  </a:lnTo>
                  <a:lnTo>
                    <a:pt x="152400" y="33528"/>
                  </a:lnTo>
                  <a:lnTo>
                    <a:pt x="130124" y="69062"/>
                  </a:lnTo>
                  <a:lnTo>
                    <a:pt x="130073" y="70104"/>
                  </a:lnTo>
                  <a:lnTo>
                    <a:pt x="129540" y="80772"/>
                  </a:lnTo>
                  <a:lnTo>
                    <a:pt x="143319" y="122478"/>
                  </a:lnTo>
                  <a:lnTo>
                    <a:pt x="161544" y="129540"/>
                  </a:lnTo>
                  <a:lnTo>
                    <a:pt x="166116" y="129540"/>
                  </a:lnTo>
                  <a:lnTo>
                    <a:pt x="172212" y="128016"/>
                  </a:lnTo>
                  <a:lnTo>
                    <a:pt x="176784" y="123444"/>
                  </a:lnTo>
                  <a:lnTo>
                    <a:pt x="181356" y="120396"/>
                  </a:lnTo>
                  <a:lnTo>
                    <a:pt x="185928" y="114300"/>
                  </a:lnTo>
                  <a:lnTo>
                    <a:pt x="188976" y="108204"/>
                  </a:lnTo>
                  <a:lnTo>
                    <a:pt x="190093" y="102209"/>
                  </a:lnTo>
                  <a:lnTo>
                    <a:pt x="190157" y="101777"/>
                  </a:lnTo>
                  <a:lnTo>
                    <a:pt x="191071" y="95631"/>
                  </a:lnTo>
                  <a:lnTo>
                    <a:pt x="191757" y="88493"/>
                  </a:lnTo>
                  <a:lnTo>
                    <a:pt x="192024" y="80772"/>
                  </a:lnTo>
                  <a:close/>
                </a:path>
                <a:path w="609600" h="130175">
                  <a:moveTo>
                    <a:pt x="262128" y="35052"/>
                  </a:moveTo>
                  <a:lnTo>
                    <a:pt x="248412" y="35052"/>
                  </a:lnTo>
                  <a:lnTo>
                    <a:pt x="234696" y="91440"/>
                  </a:lnTo>
                  <a:lnTo>
                    <a:pt x="233172" y="99060"/>
                  </a:lnTo>
                  <a:lnTo>
                    <a:pt x="231648" y="103632"/>
                  </a:lnTo>
                  <a:lnTo>
                    <a:pt x="230124" y="109728"/>
                  </a:lnTo>
                  <a:lnTo>
                    <a:pt x="228600" y="102108"/>
                  </a:lnTo>
                  <a:lnTo>
                    <a:pt x="211836" y="35052"/>
                  </a:lnTo>
                  <a:lnTo>
                    <a:pt x="199644" y="35052"/>
                  </a:lnTo>
                  <a:lnTo>
                    <a:pt x="222504" y="128016"/>
                  </a:lnTo>
                  <a:lnTo>
                    <a:pt x="239268" y="128016"/>
                  </a:lnTo>
                  <a:lnTo>
                    <a:pt x="262128" y="35052"/>
                  </a:lnTo>
                  <a:close/>
                </a:path>
                <a:path w="609600" h="130175">
                  <a:moveTo>
                    <a:pt x="324612" y="80784"/>
                  </a:moveTo>
                  <a:lnTo>
                    <a:pt x="324027" y="70116"/>
                  </a:lnTo>
                  <a:lnTo>
                    <a:pt x="322326" y="60972"/>
                  </a:lnTo>
                  <a:lnTo>
                    <a:pt x="319468" y="52920"/>
                  </a:lnTo>
                  <a:lnTo>
                    <a:pt x="317157" y="48780"/>
                  </a:lnTo>
                  <a:lnTo>
                    <a:pt x="315468" y="45732"/>
                  </a:lnTo>
                  <a:lnTo>
                    <a:pt x="312420" y="42545"/>
                  </a:lnTo>
                  <a:lnTo>
                    <a:pt x="312420" y="70116"/>
                  </a:lnTo>
                  <a:lnTo>
                    <a:pt x="271272" y="70116"/>
                  </a:lnTo>
                  <a:lnTo>
                    <a:pt x="271272" y="64020"/>
                  </a:lnTo>
                  <a:lnTo>
                    <a:pt x="272796" y="57924"/>
                  </a:lnTo>
                  <a:lnTo>
                    <a:pt x="277368" y="54876"/>
                  </a:lnTo>
                  <a:lnTo>
                    <a:pt x="280416" y="50304"/>
                  </a:lnTo>
                  <a:lnTo>
                    <a:pt x="286512" y="48780"/>
                  </a:lnTo>
                  <a:lnTo>
                    <a:pt x="297180" y="48780"/>
                  </a:lnTo>
                  <a:lnTo>
                    <a:pt x="303276" y="50304"/>
                  </a:lnTo>
                  <a:lnTo>
                    <a:pt x="306324" y="56400"/>
                  </a:lnTo>
                  <a:lnTo>
                    <a:pt x="309372" y="59448"/>
                  </a:lnTo>
                  <a:lnTo>
                    <a:pt x="310896" y="64020"/>
                  </a:lnTo>
                  <a:lnTo>
                    <a:pt x="312420" y="70116"/>
                  </a:lnTo>
                  <a:lnTo>
                    <a:pt x="312420" y="42545"/>
                  </a:lnTo>
                  <a:lnTo>
                    <a:pt x="310578" y="40601"/>
                  </a:lnTo>
                  <a:lnTo>
                    <a:pt x="304990" y="36779"/>
                  </a:lnTo>
                  <a:lnTo>
                    <a:pt x="298526" y="34366"/>
                  </a:lnTo>
                  <a:lnTo>
                    <a:pt x="291084" y="33540"/>
                  </a:lnTo>
                  <a:lnTo>
                    <a:pt x="284505" y="34366"/>
                  </a:lnTo>
                  <a:lnTo>
                    <a:pt x="259651" y="71450"/>
                  </a:lnTo>
                  <a:lnTo>
                    <a:pt x="259156" y="80784"/>
                  </a:lnTo>
                  <a:lnTo>
                    <a:pt x="259232" y="85356"/>
                  </a:lnTo>
                  <a:lnTo>
                    <a:pt x="273100" y="122478"/>
                  </a:lnTo>
                  <a:lnTo>
                    <a:pt x="292608" y="129552"/>
                  </a:lnTo>
                  <a:lnTo>
                    <a:pt x="300228" y="129552"/>
                  </a:lnTo>
                  <a:lnTo>
                    <a:pt x="307848" y="126504"/>
                  </a:lnTo>
                  <a:lnTo>
                    <a:pt x="312420" y="121932"/>
                  </a:lnTo>
                  <a:lnTo>
                    <a:pt x="318516" y="117360"/>
                  </a:lnTo>
                  <a:lnTo>
                    <a:pt x="319735" y="114312"/>
                  </a:lnTo>
                  <a:lnTo>
                    <a:pt x="321564" y="109740"/>
                  </a:lnTo>
                  <a:lnTo>
                    <a:pt x="323088" y="100596"/>
                  </a:lnTo>
                  <a:lnTo>
                    <a:pt x="310896" y="99072"/>
                  </a:lnTo>
                  <a:lnTo>
                    <a:pt x="307848" y="108216"/>
                  </a:lnTo>
                  <a:lnTo>
                    <a:pt x="304800" y="111264"/>
                  </a:lnTo>
                  <a:lnTo>
                    <a:pt x="300228" y="112788"/>
                  </a:lnTo>
                  <a:lnTo>
                    <a:pt x="297180" y="114312"/>
                  </a:lnTo>
                  <a:lnTo>
                    <a:pt x="286512" y="114312"/>
                  </a:lnTo>
                  <a:lnTo>
                    <a:pt x="281940" y="111264"/>
                  </a:lnTo>
                  <a:lnTo>
                    <a:pt x="272796" y="102120"/>
                  </a:lnTo>
                  <a:lnTo>
                    <a:pt x="271272" y="94500"/>
                  </a:lnTo>
                  <a:lnTo>
                    <a:pt x="271272" y="85356"/>
                  </a:lnTo>
                  <a:lnTo>
                    <a:pt x="324612" y="85356"/>
                  </a:lnTo>
                  <a:lnTo>
                    <a:pt x="324612" y="80784"/>
                  </a:lnTo>
                  <a:close/>
                </a:path>
                <a:path w="609600" h="130175">
                  <a:moveTo>
                    <a:pt x="400812" y="80784"/>
                  </a:moveTo>
                  <a:lnTo>
                    <a:pt x="400227" y="70116"/>
                  </a:lnTo>
                  <a:lnTo>
                    <a:pt x="398526" y="60972"/>
                  </a:lnTo>
                  <a:lnTo>
                    <a:pt x="395668" y="52920"/>
                  </a:lnTo>
                  <a:lnTo>
                    <a:pt x="393357" y="48780"/>
                  </a:lnTo>
                  <a:lnTo>
                    <a:pt x="391668" y="45732"/>
                  </a:lnTo>
                  <a:lnTo>
                    <a:pt x="388620" y="42024"/>
                  </a:lnTo>
                  <a:lnTo>
                    <a:pt x="388620" y="64020"/>
                  </a:lnTo>
                  <a:lnTo>
                    <a:pt x="388620" y="70116"/>
                  </a:lnTo>
                  <a:lnTo>
                    <a:pt x="347472" y="70116"/>
                  </a:lnTo>
                  <a:lnTo>
                    <a:pt x="350520" y="57924"/>
                  </a:lnTo>
                  <a:lnTo>
                    <a:pt x="355092" y="54876"/>
                  </a:lnTo>
                  <a:lnTo>
                    <a:pt x="358140" y="50304"/>
                  </a:lnTo>
                  <a:lnTo>
                    <a:pt x="362712" y="48780"/>
                  </a:lnTo>
                  <a:lnTo>
                    <a:pt x="374904" y="48780"/>
                  </a:lnTo>
                  <a:lnTo>
                    <a:pt x="381000" y="50304"/>
                  </a:lnTo>
                  <a:lnTo>
                    <a:pt x="384048" y="56400"/>
                  </a:lnTo>
                  <a:lnTo>
                    <a:pt x="387096" y="59448"/>
                  </a:lnTo>
                  <a:lnTo>
                    <a:pt x="368808" y="33540"/>
                  </a:lnTo>
                  <a:lnTo>
                    <a:pt x="361988" y="34366"/>
                  </a:lnTo>
                  <a:lnTo>
                    <a:pt x="335851" y="71450"/>
                  </a:lnTo>
                  <a:lnTo>
                    <a:pt x="335356" y="80784"/>
                  </a:lnTo>
                  <a:lnTo>
                    <a:pt x="335432" y="85356"/>
                  </a:lnTo>
                  <a:lnTo>
                    <a:pt x="349542" y="122478"/>
                  </a:lnTo>
                  <a:lnTo>
                    <a:pt x="370332" y="129552"/>
                  </a:lnTo>
                  <a:lnTo>
                    <a:pt x="377952" y="129552"/>
                  </a:lnTo>
                  <a:lnTo>
                    <a:pt x="384048" y="126504"/>
                  </a:lnTo>
                  <a:lnTo>
                    <a:pt x="390144" y="121932"/>
                  </a:lnTo>
                  <a:lnTo>
                    <a:pt x="394716" y="117360"/>
                  </a:lnTo>
                  <a:lnTo>
                    <a:pt x="396544" y="114312"/>
                  </a:lnTo>
                  <a:lnTo>
                    <a:pt x="399288" y="109740"/>
                  </a:lnTo>
                  <a:lnTo>
                    <a:pt x="400812" y="100596"/>
                  </a:lnTo>
                  <a:lnTo>
                    <a:pt x="388620" y="99072"/>
                  </a:lnTo>
                  <a:lnTo>
                    <a:pt x="387096" y="103644"/>
                  </a:lnTo>
                  <a:lnTo>
                    <a:pt x="384048" y="108216"/>
                  </a:lnTo>
                  <a:lnTo>
                    <a:pt x="381000" y="111264"/>
                  </a:lnTo>
                  <a:lnTo>
                    <a:pt x="374904" y="114312"/>
                  </a:lnTo>
                  <a:lnTo>
                    <a:pt x="364236" y="114312"/>
                  </a:lnTo>
                  <a:lnTo>
                    <a:pt x="358140" y="111264"/>
                  </a:lnTo>
                  <a:lnTo>
                    <a:pt x="355092" y="106692"/>
                  </a:lnTo>
                  <a:lnTo>
                    <a:pt x="350520" y="102120"/>
                  </a:lnTo>
                  <a:lnTo>
                    <a:pt x="348996" y="94500"/>
                  </a:lnTo>
                  <a:lnTo>
                    <a:pt x="347472" y="85356"/>
                  </a:lnTo>
                  <a:lnTo>
                    <a:pt x="400812" y="85356"/>
                  </a:lnTo>
                  <a:lnTo>
                    <a:pt x="400812" y="80784"/>
                  </a:lnTo>
                  <a:close/>
                </a:path>
                <a:path w="609600" h="130175">
                  <a:moveTo>
                    <a:pt x="473951" y="0"/>
                  </a:moveTo>
                  <a:lnTo>
                    <a:pt x="461759" y="0"/>
                  </a:lnTo>
                  <a:lnTo>
                    <a:pt x="461759" y="48768"/>
                  </a:lnTo>
                  <a:lnTo>
                    <a:pt x="461759" y="92964"/>
                  </a:lnTo>
                  <a:lnTo>
                    <a:pt x="460235" y="100584"/>
                  </a:lnTo>
                  <a:lnTo>
                    <a:pt x="457187" y="106680"/>
                  </a:lnTo>
                  <a:lnTo>
                    <a:pt x="449567" y="114300"/>
                  </a:lnTo>
                  <a:lnTo>
                    <a:pt x="438899" y="114300"/>
                  </a:lnTo>
                  <a:lnTo>
                    <a:pt x="425183" y="70104"/>
                  </a:lnTo>
                  <a:lnTo>
                    <a:pt x="426707" y="62484"/>
                  </a:lnTo>
                  <a:lnTo>
                    <a:pt x="431279" y="56388"/>
                  </a:lnTo>
                  <a:lnTo>
                    <a:pt x="434327" y="51816"/>
                  </a:lnTo>
                  <a:lnTo>
                    <a:pt x="438899" y="48768"/>
                  </a:lnTo>
                  <a:lnTo>
                    <a:pt x="448043" y="48768"/>
                  </a:lnTo>
                  <a:lnTo>
                    <a:pt x="461759" y="92964"/>
                  </a:lnTo>
                  <a:lnTo>
                    <a:pt x="461759" y="48768"/>
                  </a:lnTo>
                  <a:lnTo>
                    <a:pt x="460235" y="44196"/>
                  </a:lnTo>
                  <a:lnTo>
                    <a:pt x="457187" y="39624"/>
                  </a:lnTo>
                  <a:lnTo>
                    <a:pt x="454139" y="38100"/>
                  </a:lnTo>
                  <a:lnTo>
                    <a:pt x="451091" y="35052"/>
                  </a:lnTo>
                  <a:lnTo>
                    <a:pt x="446519" y="33528"/>
                  </a:lnTo>
                  <a:lnTo>
                    <a:pt x="437375" y="33528"/>
                  </a:lnTo>
                  <a:lnTo>
                    <a:pt x="431279" y="35052"/>
                  </a:lnTo>
                  <a:lnTo>
                    <a:pt x="426707" y="39624"/>
                  </a:lnTo>
                  <a:lnTo>
                    <a:pt x="422135" y="42672"/>
                  </a:lnTo>
                  <a:lnTo>
                    <a:pt x="419087" y="48768"/>
                  </a:lnTo>
                  <a:lnTo>
                    <a:pt x="417563" y="56388"/>
                  </a:lnTo>
                  <a:lnTo>
                    <a:pt x="414515" y="64008"/>
                  </a:lnTo>
                  <a:lnTo>
                    <a:pt x="412991" y="71628"/>
                  </a:lnTo>
                  <a:lnTo>
                    <a:pt x="413054" y="82296"/>
                  </a:lnTo>
                  <a:lnTo>
                    <a:pt x="413283" y="88252"/>
                  </a:lnTo>
                  <a:lnTo>
                    <a:pt x="413397" y="89115"/>
                  </a:lnTo>
                  <a:lnTo>
                    <a:pt x="414134" y="94869"/>
                  </a:lnTo>
                  <a:lnTo>
                    <a:pt x="415569" y="100926"/>
                  </a:lnTo>
                  <a:lnTo>
                    <a:pt x="417563" y="106680"/>
                  </a:lnTo>
                  <a:lnTo>
                    <a:pt x="419087" y="114300"/>
                  </a:lnTo>
                  <a:lnTo>
                    <a:pt x="432803" y="128016"/>
                  </a:lnTo>
                  <a:lnTo>
                    <a:pt x="437375" y="129540"/>
                  </a:lnTo>
                  <a:lnTo>
                    <a:pt x="451091" y="129540"/>
                  </a:lnTo>
                  <a:lnTo>
                    <a:pt x="457187" y="123444"/>
                  </a:lnTo>
                  <a:lnTo>
                    <a:pt x="461111" y="114300"/>
                  </a:lnTo>
                  <a:lnTo>
                    <a:pt x="461759" y="112776"/>
                  </a:lnTo>
                  <a:lnTo>
                    <a:pt x="461759" y="128016"/>
                  </a:lnTo>
                  <a:lnTo>
                    <a:pt x="473951" y="128016"/>
                  </a:lnTo>
                  <a:lnTo>
                    <a:pt x="473951" y="112776"/>
                  </a:lnTo>
                  <a:lnTo>
                    <a:pt x="473951" y="0"/>
                  </a:lnTo>
                  <a:close/>
                </a:path>
                <a:path w="609600" h="130175">
                  <a:moveTo>
                    <a:pt x="554723" y="80772"/>
                  </a:moveTo>
                  <a:lnTo>
                    <a:pt x="545579" y="45720"/>
                  </a:lnTo>
                  <a:lnTo>
                    <a:pt x="542505" y="40601"/>
                  </a:lnTo>
                  <a:lnTo>
                    <a:pt x="542505" y="69938"/>
                  </a:lnTo>
                  <a:lnTo>
                    <a:pt x="542404" y="92278"/>
                  </a:lnTo>
                  <a:lnTo>
                    <a:pt x="541007" y="100584"/>
                  </a:lnTo>
                  <a:lnTo>
                    <a:pt x="536435" y="105156"/>
                  </a:lnTo>
                  <a:lnTo>
                    <a:pt x="533387" y="111252"/>
                  </a:lnTo>
                  <a:lnTo>
                    <a:pt x="528815" y="114300"/>
                  </a:lnTo>
                  <a:lnTo>
                    <a:pt x="518147" y="114300"/>
                  </a:lnTo>
                  <a:lnTo>
                    <a:pt x="505714" y="95631"/>
                  </a:lnTo>
                  <a:lnTo>
                    <a:pt x="504748" y="89115"/>
                  </a:lnTo>
                  <a:lnTo>
                    <a:pt x="504723" y="88493"/>
                  </a:lnTo>
                  <a:lnTo>
                    <a:pt x="504431" y="80772"/>
                  </a:lnTo>
                  <a:lnTo>
                    <a:pt x="504469" y="69938"/>
                  </a:lnTo>
                  <a:lnTo>
                    <a:pt x="505955" y="62484"/>
                  </a:lnTo>
                  <a:lnTo>
                    <a:pt x="510527" y="56388"/>
                  </a:lnTo>
                  <a:lnTo>
                    <a:pt x="513575" y="51816"/>
                  </a:lnTo>
                  <a:lnTo>
                    <a:pt x="518147" y="48768"/>
                  </a:lnTo>
                  <a:lnTo>
                    <a:pt x="528815" y="48768"/>
                  </a:lnTo>
                  <a:lnTo>
                    <a:pt x="533387" y="51816"/>
                  </a:lnTo>
                  <a:lnTo>
                    <a:pt x="536435" y="56388"/>
                  </a:lnTo>
                  <a:lnTo>
                    <a:pt x="541007" y="62484"/>
                  </a:lnTo>
                  <a:lnTo>
                    <a:pt x="542505" y="69938"/>
                  </a:lnTo>
                  <a:lnTo>
                    <a:pt x="542505" y="40601"/>
                  </a:lnTo>
                  <a:lnTo>
                    <a:pt x="541007" y="38100"/>
                  </a:lnTo>
                  <a:lnTo>
                    <a:pt x="533387" y="33528"/>
                  </a:lnTo>
                  <a:lnTo>
                    <a:pt x="515099" y="33528"/>
                  </a:lnTo>
                  <a:lnTo>
                    <a:pt x="492836" y="69062"/>
                  </a:lnTo>
                  <a:lnTo>
                    <a:pt x="492785" y="70104"/>
                  </a:lnTo>
                  <a:lnTo>
                    <a:pt x="492239" y="80772"/>
                  </a:lnTo>
                  <a:lnTo>
                    <a:pt x="505383" y="122478"/>
                  </a:lnTo>
                  <a:lnTo>
                    <a:pt x="524243" y="129540"/>
                  </a:lnTo>
                  <a:lnTo>
                    <a:pt x="528815" y="129540"/>
                  </a:lnTo>
                  <a:lnTo>
                    <a:pt x="534911" y="128016"/>
                  </a:lnTo>
                  <a:lnTo>
                    <a:pt x="539483" y="123444"/>
                  </a:lnTo>
                  <a:lnTo>
                    <a:pt x="544055" y="120396"/>
                  </a:lnTo>
                  <a:lnTo>
                    <a:pt x="554469" y="88493"/>
                  </a:lnTo>
                  <a:lnTo>
                    <a:pt x="554723" y="80772"/>
                  </a:lnTo>
                  <a:close/>
                </a:path>
                <a:path w="609600" h="130175">
                  <a:moveTo>
                    <a:pt x="609600" y="38100"/>
                  </a:moveTo>
                  <a:lnTo>
                    <a:pt x="605028" y="35052"/>
                  </a:lnTo>
                  <a:lnTo>
                    <a:pt x="601980" y="33528"/>
                  </a:lnTo>
                  <a:lnTo>
                    <a:pt x="595884" y="33528"/>
                  </a:lnTo>
                  <a:lnTo>
                    <a:pt x="592836" y="35052"/>
                  </a:lnTo>
                  <a:lnTo>
                    <a:pt x="591312" y="36576"/>
                  </a:lnTo>
                  <a:lnTo>
                    <a:pt x="588264" y="38100"/>
                  </a:lnTo>
                  <a:lnTo>
                    <a:pt x="586740" y="42672"/>
                  </a:lnTo>
                  <a:lnTo>
                    <a:pt x="583692" y="48768"/>
                  </a:lnTo>
                  <a:lnTo>
                    <a:pt x="583692" y="35052"/>
                  </a:lnTo>
                  <a:lnTo>
                    <a:pt x="573024" y="35052"/>
                  </a:lnTo>
                  <a:lnTo>
                    <a:pt x="573024" y="128016"/>
                  </a:lnTo>
                  <a:lnTo>
                    <a:pt x="585216" y="128016"/>
                  </a:lnTo>
                  <a:lnTo>
                    <a:pt x="585216" y="65532"/>
                  </a:lnTo>
                  <a:lnTo>
                    <a:pt x="588264" y="56388"/>
                  </a:lnTo>
                  <a:lnTo>
                    <a:pt x="589788" y="53340"/>
                  </a:lnTo>
                  <a:lnTo>
                    <a:pt x="594360" y="48768"/>
                  </a:lnTo>
                  <a:lnTo>
                    <a:pt x="600456" y="48768"/>
                  </a:lnTo>
                  <a:lnTo>
                    <a:pt x="603504" y="50292"/>
                  </a:lnTo>
                  <a:lnTo>
                    <a:pt x="605028" y="51816"/>
                  </a:lnTo>
                  <a:lnTo>
                    <a:pt x="6096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48583" y="7857743"/>
              <a:ext cx="771144" cy="12192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928872" y="7859268"/>
              <a:ext cx="9525" cy="94615"/>
            </a:xfrm>
            <a:custGeom>
              <a:avLst/>
              <a:gdLst/>
              <a:ahLst/>
              <a:cxnLst/>
              <a:rect l="l" t="t" r="r" b="b"/>
              <a:pathLst>
                <a:path w="9525" h="94615">
                  <a:moveTo>
                    <a:pt x="9143" y="94487"/>
                  </a:moveTo>
                  <a:lnTo>
                    <a:pt x="0" y="94487"/>
                  </a:lnTo>
                  <a:lnTo>
                    <a:pt x="0" y="0"/>
                  </a:lnTo>
                  <a:lnTo>
                    <a:pt x="9143" y="0"/>
                  </a:lnTo>
                  <a:lnTo>
                    <a:pt x="9143" y="944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985259" y="7859267"/>
              <a:ext cx="393192" cy="121920"/>
            </a:xfrm>
            <a:prstGeom prst="rect">
              <a:avLst/>
            </a:prstGeom>
          </p:spPr>
        </p:pic>
      </p:grp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596</Words>
  <Application>Microsoft Office PowerPoint</Application>
  <PresentationFormat>Personalizado</PresentationFormat>
  <Paragraphs>125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Arial</vt:lpstr>
      <vt:lpstr>Arial MT</vt:lpstr>
      <vt:lpstr>Calibri</vt:lpstr>
      <vt:lpstr>Constantia</vt:lpstr>
      <vt:lpstr>Times New Roman</vt:lpstr>
      <vt:lpstr>Verdana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Sesion 3.pdf</dc:title>
  <dc:creator>MARGARITA</dc:creator>
  <cp:lastModifiedBy>DOCENTE - KARIN CORINA ROJAS ROMERO</cp:lastModifiedBy>
  <cp:revision>1</cp:revision>
  <dcterms:created xsi:type="dcterms:W3CDTF">2026-09-02T00:08:30Z</dcterms:created>
  <dcterms:modified xsi:type="dcterms:W3CDTF">2026-09-02T00:09:53Z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2026-09-01T00:00:00Z</vt:filetime>
  </property>
  <property fmtid="{D5CDD505-2E9C-101B-9397-08002B2CF9AE}" pid="4" name="LastSaved">
    <vt:filetime>2026-09-02T00:00:00Z</vt:filetime>
  </property>
  <property fmtid="{D5CDD505-2E9C-101B-9397-08002B2CF9AE}" pid="5" name="Producer">
    <vt:lpwstr>Microsoft: Print To PDF</vt:lpwstr>
  </property>
</Properties>
</file>